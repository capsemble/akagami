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latin typeface="Arial"/>
              </a:rPr>
              <a:t>Odds of winning by guessing — worst act per chapter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Worst-case guess odds (%)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Sheet1!$A$2:$A$8</c:f>
              <c:strCache>
                <c:ptCount val="7"/>
                <c:pt idx="0">
                  <c:v>Vision</c:v>
                </c:pt>
                <c:pt idx="1">
                  <c:v>Physics</c:v>
                </c:pt>
                <c:pt idx="2">
                  <c:v>Backend eng.</c:v>
                </c:pt>
                <c:pt idx="3">
                  <c:v>History</c:v>
                </c:pt>
                <c:pt idx="4">
                  <c:v>Biology</c:v>
                </c:pt>
                <c:pt idx="5">
                  <c:v>Newton</c:v>
                </c:pt>
                <c:pt idx="6">
                  <c:v>Bio notes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6.0</c:v>
                </c:pt>
                <c:pt idx="1">
                  <c:v>5.5</c:v>
                </c:pt>
                <c:pt idx="2">
                  <c:v>5.5</c:v>
                </c:pt>
                <c:pt idx="3">
                  <c:v>5.3</c:v>
                </c:pt>
                <c:pt idx="4">
                  <c:v>5.0</c:v>
                </c:pt>
                <c:pt idx="5">
                  <c:v>1.5</c:v>
                </c:pt>
                <c:pt idx="6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D8CE"/>
            </a:solidFill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1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20.png"/><Relationship Id="rId7" Type="http://schemas.openxmlformats.org/officeDocument/2006/relationships/image" Target="../media/image7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8.png"/><Relationship Id="rId14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30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6.png"/><Relationship Id="rId13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/>
              <a:t>finwing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/>
              <a:t>Hrutik Kumthekar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/>
              <a:t>Media, Content &amp; Digital Experiences</a:t>
            </a:r>
            <a:r>
              <a:rPr sz="1400">
                <a:solidFill>
                  <a:srgbClr val="5F5F5F"/>
                </a:solidFill>
              </a:rPr>
              <a:t> — turning static learning content into playable, verified game worlds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Upload any chapter. Play it. Win only by using the concept</a:t>
            </a:r>
          </a:p>
        </p:txBody>
      </p:sp>
      <p:sp>
        <p:nvSpPr>
          <p:cNvPr id="73" name="Step 1 icon"/>
          <p:cNvSpPr/>
          <p:nvPr/>
        </p:nvSpPr>
        <p:spPr>
          <a:xfrm>
            <a:off x="365760" y="1435608"/>
            <a:ext cx="475488" cy="47548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aBookOpen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77" y="1549725"/>
            <a:ext cx="247253" cy="247253"/>
          </a:xfrm>
          <a:prstGeom prst="rect">
            <a:avLst/>
          </a:prstGeom>
        </p:spPr>
      </p:pic>
      <p:sp>
        <p:nvSpPr>
          <p:cNvPr id="75" name="Step 1"/>
          <p:cNvSpPr txBox="1"/>
          <p:nvPr/>
        </p:nvSpPr>
        <p:spPr>
          <a:xfrm>
            <a:off x="987552" y="141732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Upload your chapter</a:t>
            </a:r>
          </a:p>
          <a:p>
            <a:pPr algn="l"/>
            <a:r>
              <a:rPr sz="1150" b="0" i="0">
                <a:solidFill>
                  <a:srgbClr val="1A1A1A"/>
                </a:solidFill>
                <a:latin typeface="Arial"/>
              </a:rPr>
              <a:t>Notes, a textbook chapter or a PDF. Gemini pulls out the concepts, the rules and the usual misconceptions.</a:t>
            </a:r>
          </a:p>
        </p:txBody>
      </p:sp>
      <p:sp>
        <p:nvSpPr>
          <p:cNvPr id="76" name="Step 2 icon"/>
          <p:cNvSpPr/>
          <p:nvPr/>
        </p:nvSpPr>
        <p:spPr>
          <a:xfrm>
            <a:off x="365760" y="2331720"/>
            <a:ext cx="475488" cy="47548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FaWandMagicSparkles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877" y="2445837"/>
            <a:ext cx="247253" cy="247253"/>
          </a:xfrm>
          <a:prstGeom prst="rect">
            <a:avLst/>
          </a:prstGeom>
        </p:spPr>
      </p:pic>
      <p:sp>
        <p:nvSpPr>
          <p:cNvPr id="78" name="Step 2"/>
          <p:cNvSpPr txBox="1"/>
          <p:nvPr/>
        </p:nvSpPr>
        <p:spPr>
          <a:xfrm>
            <a:off x="987552" y="231343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Gemini builds a world</a:t>
            </a:r>
          </a:p>
          <a:p>
            <a:pPr algn="l"/>
            <a:r>
              <a:rPr sz="1150" b="0" i="0">
                <a:solidFill>
                  <a:srgbClr val="1A1A1A"/>
                </a:solidFill>
                <a:latin typeface="Arial"/>
              </a:rPr>
              <a:t>A story RPG with a villain, a twist and one concept per act. Nano Banana paints it.</a:t>
            </a:r>
          </a:p>
        </p:txBody>
      </p:sp>
      <p:sp>
        <p:nvSpPr>
          <p:cNvPr id="79" name="Step 3 icon"/>
          <p:cNvSpPr/>
          <p:nvPr/>
        </p:nvSpPr>
        <p:spPr>
          <a:xfrm>
            <a:off x="365760" y="3227832"/>
            <a:ext cx="475488" cy="47548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FaGamepad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77" y="3341949"/>
            <a:ext cx="247253" cy="247253"/>
          </a:xfrm>
          <a:prstGeom prst="rect">
            <a:avLst/>
          </a:prstGeom>
        </p:spPr>
      </p:pic>
      <p:sp>
        <p:nvSpPr>
          <p:cNvPr id="81" name="Step 3"/>
          <p:cNvSpPr txBox="1"/>
          <p:nvPr/>
        </p:nvSpPr>
        <p:spPr>
          <a:xfrm>
            <a:off x="987552" y="3209544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Win by using the idea</a:t>
            </a:r>
          </a:p>
          <a:p>
            <a:pPr algn="l"/>
            <a:r>
              <a:rPr sz="1150" b="0" i="0">
                <a:solidFill>
                  <a:srgbClr val="1A1A1A"/>
                </a:solidFill>
                <a:latin typeface="Arial"/>
              </a:rPr>
              <a:t>Drive, aim, order a process, pin evidence, tune a RAG pipeline. No multiple choice.</a:t>
            </a:r>
          </a:p>
        </p:txBody>
      </p:sp>
      <p:pic>
        <p:nvPicPr>
          <p:cNvPr id="82" name="Hero screenshot" descr="world-haveli.jpg"/>
          <p:cNvPicPr>
            <a:picLocks noChangeAspect="1"/>
          </p:cNvPicPr>
          <p:nvPr/>
        </p:nvPicPr>
        <p:blipFill>
          <a:blip r:embed="rId7"/>
          <a:srcRect t="35" b="35"/>
          <a:stretch>
            <a:fillRect/>
          </a:stretch>
        </p:blipFill>
        <p:spPr>
          <a:xfrm>
            <a:off x="4434840" y="1389888"/>
            <a:ext cx="4343400" cy="2441448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83" name="Hero caption"/>
          <p:cNvSpPr txBox="1"/>
          <p:nvPr/>
        </p:nvSpPr>
        <p:spPr>
          <a:xfrm>
            <a:off x="4434840" y="3877056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F5F5F"/>
                </a:solidFill>
                <a:latin typeface="Arial"/>
              </a:rPr>
              <a:t>Seven Sharp at the Haveli: </a:t>
            </a:r>
            <a:r>
              <a:rPr sz="950" b="0" i="0">
                <a:solidFill>
                  <a:srgbClr val="5F5F5F"/>
                </a:solidFill>
                <a:latin typeface="Arial"/>
              </a:rPr>
              <a:t>built by Gemini from a RAG textbook chapter, played with live retrieval over that same chapter.</a:t>
            </a:r>
          </a:p>
        </p:txBody>
      </p:sp>
      <p:sp>
        <p:nvSpPr>
          <p:cNvPr id="84" name="Promise band"/>
          <p:cNvSpPr/>
          <p:nvPr/>
        </p:nvSpPr>
        <p:spPr>
          <a:xfrm>
            <a:off x="365760" y="4224528"/>
            <a:ext cx="8412480" cy="658368"/>
          </a:xfrm>
          <a:prstGeom prst="roundRect">
            <a:avLst>
              <a:gd name="adj" fmla="val 12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Promise"/>
          <p:cNvSpPr txBox="1"/>
          <p:nvPr/>
        </p:nvSpPr>
        <p:spPr>
          <a:xfrm>
            <a:off x="594360" y="4224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4ECD8"/>
                </a:solidFill>
                <a:latin typeface="Arial"/>
              </a:rPr>
              <a:t>Gemini writes it, Nano Banana paints it — and the game’s own code proves every level </a:t>
            </a:r>
            <a:r>
              <a:rPr sz="1300" b="1" i="0">
                <a:solidFill>
                  <a:srgbClr val="D9A441"/>
                </a:solidFill>
                <a:latin typeface="Arial"/>
              </a:rPr>
              <a:t>winnable, unguessable and grounded in your notes</a:t>
            </a:r>
            <a:r>
              <a:rPr sz="1300" b="0" i="0">
                <a:solidFill>
                  <a:srgbClr val="F4ECD8"/>
                </a:solidFill>
                <a:latin typeface="Arial"/>
              </a:rPr>
              <a:t> before you play.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Others skin a quiz. We make the concept the controller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65760" y="1417320"/>
          <a:ext cx="5440679" cy="26517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86968"/>
                <a:gridCol w="886968"/>
                <a:gridCol w="886968"/>
                <a:gridCol w="90525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4ECD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4ECD8"/>
                          </a:solidFill>
                          <a:latin typeface="Arial"/>
                        </a:rPr>
                        <a:t>Prompt-to-game tools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4ECD8"/>
                          </a:solidFill>
                          <a:latin typeface="Arial"/>
                        </a:rPr>
                        <a:t>Notes-to-quiz apps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4ECD8"/>
                          </a:solidFill>
                          <a:latin typeface="Arial"/>
                        </a:rPr>
                        <a:t>Quiz RPG makers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D9A441"/>
                          </a:solidFill>
                          <a:latin typeface="Arial"/>
                        </a:rPr>
                        <a:t>Chapter Quest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Arial"/>
                        </a:rPr>
                        <a:t>Reads your own material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D3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F5F5F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D9A44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Arial"/>
                        </a:rPr>
                        <a:t>You win by using the concept, not answering MCQs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F5F5F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D9A44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Arial"/>
                        </a:rPr>
                        <a:t>Every level proved winnable and grounded in your notes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D9A44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Arial"/>
                        </a:rPr>
                        <a:t>Adapts to the misconception you just showed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F5F5F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281E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54864" marR="54864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D9A44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54864" anchor="ctr">
                    <a:solidFill>
                      <a:srgbClr val="1F140D"/>
                    </a:solidFill>
                  </a:tcPr>
                </a:tc>
              </a:tr>
            </a:tbl>
          </a:graphicData>
        </a:graphic>
      </p:graphicFrame>
      <p:sp>
        <p:nvSpPr>
          <p:cNvPr id="82" name="Table legend"/>
          <p:cNvSpPr txBox="1"/>
          <p:nvPr/>
        </p:nvSpPr>
        <p:spPr>
          <a:xfrm>
            <a:off x="365760" y="4133087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✓ yes   ~ partly   ✗ no — categories as we assessed them, not an endorsement by any vendor</a:t>
            </a:r>
          </a:p>
        </p:txBody>
      </p:sp>
      <p:sp>
        <p:nvSpPr>
          <p:cNvPr id="83" name="Answer 1 card"/>
          <p:cNvSpPr/>
          <p:nvPr/>
        </p:nvSpPr>
        <p:spPr>
          <a:xfrm>
            <a:off x="6035040" y="1417320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Answer 1 icon"/>
          <p:cNvSpPr/>
          <p:nvPr/>
        </p:nvSpPr>
        <p:spPr>
          <a:xfrm>
            <a:off x="6172200" y="1554480"/>
            <a:ext cx="365760" cy="3657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aRoute-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9982" y="1642262"/>
            <a:ext cx="190195" cy="190195"/>
          </a:xfrm>
          <a:prstGeom prst="rect">
            <a:avLst/>
          </a:prstGeom>
        </p:spPr>
      </p:pic>
      <p:sp>
        <p:nvSpPr>
          <p:cNvPr id="86" name="Answer 1"/>
          <p:cNvSpPr txBox="1"/>
          <p:nvPr/>
        </p:nvSpPr>
        <p:spPr>
          <a:xfrm>
            <a:off x="6656832" y="1536192"/>
            <a:ext cx="202996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How it solves the problem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Reading is passive. Here you predict, act, and see why — and a character who embodies your exact mistake walks in to argue it.</a:t>
            </a:r>
          </a:p>
        </p:txBody>
      </p:sp>
      <p:sp>
        <p:nvSpPr>
          <p:cNvPr id="87" name="Answer 2 card"/>
          <p:cNvSpPr/>
          <p:nvPr/>
        </p:nvSpPr>
        <p:spPr>
          <a:xfrm>
            <a:off x="6035040" y="2578608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Answer 2 icon"/>
          <p:cNvSpPr/>
          <p:nvPr/>
        </p:nvSpPr>
        <p:spPr>
          <a:xfrm>
            <a:off x="6172200" y="2715768"/>
            <a:ext cx="365760" cy="3657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aShieldHalved-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9982" y="2803550"/>
            <a:ext cx="190195" cy="190195"/>
          </a:xfrm>
          <a:prstGeom prst="rect">
            <a:avLst/>
          </a:prstGeom>
        </p:spPr>
      </p:pic>
      <p:sp>
        <p:nvSpPr>
          <p:cNvPr id="90" name="Answer 2"/>
          <p:cNvSpPr txBox="1"/>
          <p:nvPr/>
        </p:nvSpPr>
        <p:spPr>
          <a:xfrm>
            <a:off x="6656832" y="2697480"/>
            <a:ext cx="202996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USP: verified before you play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Every act is proved winnable; guessing wins ≤6%; every rule is quoted word for word from your notes; Gemini play-tests its own levels.</a:t>
            </a:r>
          </a:p>
        </p:txBody>
      </p:sp>
      <p:sp>
        <p:nvSpPr>
          <p:cNvPr id="91" name="Answer 3 card"/>
          <p:cNvSpPr/>
          <p:nvPr/>
        </p:nvSpPr>
        <p:spPr>
          <a:xfrm>
            <a:off x="6035040" y="3739896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Answer 3 icon"/>
          <p:cNvSpPr/>
          <p:nvPr/>
        </p:nvSpPr>
        <p:spPr>
          <a:xfrm>
            <a:off x="6172200" y="3877056"/>
            <a:ext cx="365760" cy="3657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FaTrophy-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9982" y="3964838"/>
            <a:ext cx="190195" cy="190195"/>
          </a:xfrm>
          <a:prstGeom prst="rect">
            <a:avLst/>
          </a:prstGeom>
        </p:spPr>
      </p:pic>
      <p:sp>
        <p:nvSpPr>
          <p:cNvPr id="94" name="Answer 3"/>
          <p:cNvSpPr txBox="1"/>
          <p:nvPr/>
        </p:nvSpPr>
        <p:spPr>
          <a:xfrm>
            <a:off x="6656832" y="3858768"/>
            <a:ext cx="202996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The opportunity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Every learner already has the content. We turn it into an interactive digital experience in about two minutes.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Four ways to play, every level verified before you play</a:t>
            </a:r>
          </a:p>
        </p:txBody>
      </p:sp>
      <p:sp>
        <p:nvSpPr>
          <p:cNvPr id="89" name="Feature 1 card"/>
          <p:cNvSpPr/>
          <p:nvPr/>
        </p:nvSpPr>
        <p:spPr>
          <a:xfrm>
            <a:off x="365760" y="1389888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Feature 1 icon"/>
          <p:cNvSpPr/>
          <p:nvPr/>
        </p:nvSpPr>
        <p:spPr>
          <a:xfrm>
            <a:off x="502920" y="1527048"/>
            <a:ext cx="420624" cy="420624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aFlask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69" y="1627997"/>
            <a:ext cx="218724" cy="218724"/>
          </a:xfrm>
          <a:prstGeom prst="rect">
            <a:avLst/>
          </a:prstGeom>
        </p:spPr>
      </p:pic>
      <p:sp>
        <p:nvSpPr>
          <p:cNvPr id="92" name="Feature 1"/>
          <p:cNvSpPr txBox="1"/>
          <p:nvPr/>
        </p:nvSpPr>
        <p:spPr>
          <a:xfrm>
            <a:off x="502920" y="2029967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Formula worlds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Drive a train, aim a launch, balance a beam. A real simulator decides, never the AI.</a:t>
            </a:r>
          </a:p>
        </p:txBody>
      </p:sp>
      <p:sp>
        <p:nvSpPr>
          <p:cNvPr id="93" name="Feature 2 card"/>
          <p:cNvSpPr/>
          <p:nvPr/>
        </p:nvSpPr>
        <p:spPr>
          <a:xfrm>
            <a:off x="2496312" y="1389888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Feature 2 icon"/>
          <p:cNvSpPr/>
          <p:nvPr/>
        </p:nvSpPr>
        <p:spPr>
          <a:xfrm>
            <a:off x="2633472" y="1527048"/>
            <a:ext cx="420624" cy="420624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FaListOl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421" y="1627997"/>
            <a:ext cx="218724" cy="218724"/>
          </a:xfrm>
          <a:prstGeom prst="rect">
            <a:avLst/>
          </a:prstGeom>
        </p:spPr>
      </p:pic>
      <p:sp>
        <p:nvSpPr>
          <p:cNvPr id="96" name="Feature 2"/>
          <p:cNvSpPr txBox="1"/>
          <p:nvPr/>
        </p:nvSpPr>
        <p:spPr>
          <a:xfrm>
            <a:off x="2633472" y="2029967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Sequence boards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Order a process or a causal chain. A broken link explains why, quoted from your notes.</a:t>
            </a:r>
          </a:p>
        </p:txBody>
      </p:sp>
      <p:sp>
        <p:nvSpPr>
          <p:cNvPr id="97" name="Feature 3 card"/>
          <p:cNvSpPr/>
          <p:nvPr/>
        </p:nvSpPr>
        <p:spPr>
          <a:xfrm>
            <a:off x="4626864" y="1389888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Feature 3 icon"/>
          <p:cNvSpPr/>
          <p:nvPr/>
        </p:nvSpPr>
        <p:spPr>
          <a:xfrm>
            <a:off x="4764024" y="1527048"/>
            <a:ext cx="420624" cy="420624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FaScaleBalanced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973" y="1627997"/>
            <a:ext cx="218724" cy="218724"/>
          </a:xfrm>
          <a:prstGeom prst="rect">
            <a:avLst/>
          </a:prstGeom>
        </p:spPr>
      </p:pic>
      <p:sp>
        <p:nvSpPr>
          <p:cNvPr id="100" name="Feature 3"/>
          <p:cNvSpPr txBox="1"/>
          <p:nvPr/>
        </p:nvSpPr>
        <p:spPr>
          <a:xfrm>
            <a:off x="4764024" y="2029967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Evidence boards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Pin each document to the claim it proves. Decoys explain what they really show.</a:t>
            </a:r>
          </a:p>
        </p:txBody>
      </p:sp>
      <p:sp>
        <p:nvSpPr>
          <p:cNvPr id="101" name="Feature 4 card"/>
          <p:cNvSpPr/>
          <p:nvPr/>
        </p:nvSpPr>
        <p:spPr>
          <a:xfrm>
            <a:off x="6757416" y="1389888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Feature 4 icon"/>
          <p:cNvSpPr/>
          <p:nvPr/>
        </p:nvSpPr>
        <p:spPr>
          <a:xfrm>
            <a:off x="6894576" y="1527048"/>
            <a:ext cx="420624" cy="420624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FaMagnifyingGlass-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5525" y="1627997"/>
            <a:ext cx="218724" cy="218724"/>
          </a:xfrm>
          <a:prstGeom prst="rect">
            <a:avLst/>
          </a:prstGeom>
        </p:spPr>
      </p:pic>
      <p:sp>
        <p:nvSpPr>
          <p:cNvPr id="104" name="Feature 4"/>
          <p:cNvSpPr txBox="1"/>
          <p:nvPr/>
        </p:nvSpPr>
        <p:spPr>
          <a:xfrm>
            <a:off x="6894576" y="2029967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Live RAG worlds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Tune chunking, top-k and grounding over your own chapter, with Gemini embeddings.</a:t>
            </a:r>
          </a:p>
        </p:txBody>
      </p:sp>
      <p:sp>
        <p:nvSpPr>
          <p:cNvPr id="105" name="Feature 5 card"/>
          <p:cNvSpPr/>
          <p:nvPr/>
        </p:nvSpPr>
        <p:spPr>
          <a:xfrm>
            <a:off x="365760" y="3154680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Feature 5 icon"/>
          <p:cNvSpPr/>
          <p:nvPr/>
        </p:nvSpPr>
        <p:spPr>
          <a:xfrm>
            <a:off x="502920" y="3291840"/>
            <a:ext cx="420624" cy="42062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FaShieldHalved-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869" y="3392789"/>
            <a:ext cx="218724" cy="218724"/>
          </a:xfrm>
          <a:prstGeom prst="rect">
            <a:avLst/>
          </a:prstGeom>
        </p:spPr>
      </p:pic>
      <p:sp>
        <p:nvSpPr>
          <p:cNvPr id="108" name="Feature 5"/>
          <p:cNvSpPr txBox="1"/>
          <p:nvPr/>
        </p:nvSpPr>
        <p:spPr>
          <a:xfrm>
            <a:off x="502920" y="3794760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The ✓ verified card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See what was proved: start loses, a win exists, guess odds, every citation.</a:t>
            </a:r>
          </a:p>
        </p:txBody>
      </p:sp>
      <p:sp>
        <p:nvSpPr>
          <p:cNvPr id="109" name="Feature 6 card"/>
          <p:cNvSpPr/>
          <p:nvPr/>
        </p:nvSpPr>
        <p:spPr>
          <a:xfrm>
            <a:off x="2496312" y="3154680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Feature 6 icon"/>
          <p:cNvSpPr/>
          <p:nvPr/>
        </p:nvSpPr>
        <p:spPr>
          <a:xfrm>
            <a:off x="2633472" y="3291840"/>
            <a:ext cx="420624" cy="42062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FaMasksTheater-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4421" y="3392789"/>
            <a:ext cx="218724" cy="218724"/>
          </a:xfrm>
          <a:prstGeom prst="rect">
            <a:avLst/>
          </a:prstGeom>
        </p:spPr>
      </p:pic>
      <p:sp>
        <p:nvSpPr>
          <p:cNvPr id="112" name="Feature 6"/>
          <p:cNvSpPr txBox="1"/>
          <p:nvPr/>
        </p:nvSpPr>
        <p:spPr>
          <a:xfrm>
            <a:off x="2633472" y="3794760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Misconception characters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Miss, and the character who embodies your wrong idea walks in. Reply in ~1.5 s.</a:t>
            </a:r>
          </a:p>
        </p:txBody>
      </p:sp>
      <p:sp>
        <p:nvSpPr>
          <p:cNvPr id="113" name="Feature 7 card"/>
          <p:cNvSpPr/>
          <p:nvPr/>
        </p:nvSpPr>
        <p:spPr>
          <a:xfrm>
            <a:off x="4626864" y="3154680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Feature 7 icon"/>
          <p:cNvSpPr/>
          <p:nvPr/>
        </p:nvSpPr>
        <p:spPr>
          <a:xfrm>
            <a:off x="4764024" y="3291840"/>
            <a:ext cx="420624" cy="42062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FaLightbulb-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64973" y="3392789"/>
            <a:ext cx="218724" cy="218724"/>
          </a:xfrm>
          <a:prstGeom prst="rect">
            <a:avLst/>
          </a:prstGeom>
        </p:spPr>
      </p:pic>
      <p:sp>
        <p:nvSpPr>
          <p:cNvPr id="116" name="Feature 7"/>
          <p:cNvSpPr txBox="1"/>
          <p:nvPr/>
        </p:nvSpPr>
        <p:spPr>
          <a:xfrm>
            <a:off x="4764024" y="3794760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Predict, then compare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Commit to a guess first; after the win, see it against reality — and where the analogy breaks.</a:t>
            </a:r>
          </a:p>
        </p:txBody>
      </p:sp>
      <p:sp>
        <p:nvSpPr>
          <p:cNvPr id="117" name="Feature 8 card"/>
          <p:cNvSpPr/>
          <p:nvPr/>
        </p:nvSpPr>
        <p:spPr>
          <a:xfrm>
            <a:off x="6757416" y="3154680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Feature 8 icon"/>
          <p:cNvSpPr/>
          <p:nvPr/>
        </p:nvSpPr>
        <p:spPr>
          <a:xfrm>
            <a:off x="6894576" y="3291840"/>
            <a:ext cx="420624" cy="42062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FaPaintbrush-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5525" y="3392789"/>
            <a:ext cx="218724" cy="218724"/>
          </a:xfrm>
          <a:prstGeom prst="rect">
            <a:avLst/>
          </a:prstGeom>
        </p:spPr>
      </p:pic>
      <p:sp>
        <p:nvSpPr>
          <p:cNvPr id="120" name="Feature 8"/>
          <p:cNvSpPr txBox="1"/>
          <p:nvPr/>
        </p:nvSpPr>
        <p:spPr>
          <a:xfrm>
            <a:off x="6894576" y="3794760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rial"/>
              </a:rPr>
              <a:t>Painted worlds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Nano Banana paints the cast, props and rooms in one consistent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Chapter to verified game in ~2 minutes, then it adapts to you</a:t>
            </a:r>
          </a:p>
        </p:txBody>
      </p:sp>
      <p:sp>
        <p:nvSpPr>
          <p:cNvPr id="97" name="Build lane label"/>
          <p:cNvSpPr txBox="1"/>
          <p:nvPr/>
        </p:nvSpPr>
        <p:spPr>
          <a:xfrm>
            <a:off x="365760" y="132588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A441"/>
                </a:solidFill>
                <a:latin typeface="Arial"/>
              </a:rPr>
              <a:t>BUILD</a:t>
            </a:r>
            <a:r>
              <a:rPr sz="950" b="0" i="0">
                <a:solidFill>
                  <a:srgbClr val="5F5F5F"/>
                </a:solidFill>
                <a:latin typeface="Arial"/>
              </a:rPr>
              <a:t>  once per chapter, ~2 min, cached forever</a:t>
            </a:r>
          </a:p>
        </p:txBody>
      </p:sp>
      <p:sp>
        <p:nvSpPr>
          <p:cNvPr id="98" name="Build 1"/>
          <p:cNvSpPr/>
          <p:nvPr/>
        </p:nvSpPr>
        <p:spPr>
          <a:xfrm>
            <a:off x="365760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Build 1 icon"/>
          <p:cNvSpPr/>
          <p:nvPr/>
        </p:nvSpPr>
        <p:spPr>
          <a:xfrm>
            <a:off x="457200" y="1691640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FaBookOpen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815" y="1766255"/>
            <a:ext cx="161665" cy="161665"/>
          </a:xfrm>
          <a:prstGeom prst="rect">
            <a:avLst/>
          </a:prstGeom>
        </p:spPr>
      </p:pic>
      <p:sp>
        <p:nvSpPr>
          <p:cNvPr id="101" name="Build 1 text"/>
          <p:cNvSpPr txBox="1"/>
          <p:nvPr/>
        </p:nvSpPr>
        <p:spPr>
          <a:xfrm>
            <a:off x="457200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Your chapter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notes, textbook, PDF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1627632" y="2057400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uild 2"/>
          <p:cNvSpPr/>
          <p:nvPr/>
        </p:nvSpPr>
        <p:spPr>
          <a:xfrm>
            <a:off x="1799539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Build 2 icon"/>
          <p:cNvSpPr/>
          <p:nvPr/>
        </p:nvSpPr>
        <p:spPr>
          <a:xfrm>
            <a:off x="1890979" y="1691640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FaBrain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5594" y="1766255"/>
            <a:ext cx="161665" cy="161665"/>
          </a:xfrm>
          <a:prstGeom prst="rect">
            <a:avLst/>
          </a:prstGeom>
        </p:spPr>
      </p:pic>
      <p:sp>
        <p:nvSpPr>
          <p:cNvPr id="106" name="Build 2 text"/>
          <p:cNvSpPr txBox="1"/>
          <p:nvPr/>
        </p:nvSpPr>
        <p:spPr>
          <a:xfrm>
            <a:off x="1890979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Curriculum agent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concepts and misconceptions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3061411" y="2057400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Build 3"/>
          <p:cNvSpPr/>
          <p:nvPr/>
        </p:nvSpPr>
        <p:spPr>
          <a:xfrm>
            <a:off x="3233318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Build 3 icon"/>
          <p:cNvSpPr/>
          <p:nvPr/>
        </p:nvSpPr>
        <p:spPr>
          <a:xfrm>
            <a:off x="3324758" y="1691640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FaWandMagicSparkles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99373" y="1766255"/>
            <a:ext cx="161665" cy="161665"/>
          </a:xfrm>
          <a:prstGeom prst="rect">
            <a:avLst/>
          </a:prstGeom>
        </p:spPr>
      </p:pic>
      <p:sp>
        <p:nvSpPr>
          <p:cNvPr id="111" name="Build 3 text"/>
          <p:cNvSpPr txBox="1"/>
          <p:nvPr/>
        </p:nvSpPr>
        <p:spPr>
          <a:xfrm>
            <a:off x="3324758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Writers’ room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2 film-genre drafts, a judge picks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4495190" y="2057400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Build 4"/>
          <p:cNvSpPr/>
          <p:nvPr/>
        </p:nvSpPr>
        <p:spPr>
          <a:xfrm>
            <a:off x="4667097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Build 4 icon"/>
          <p:cNvSpPr/>
          <p:nvPr/>
        </p:nvSpPr>
        <p:spPr>
          <a:xfrm>
            <a:off x="4758537" y="1691640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FaPuzzlePiece-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3152" y="1766255"/>
            <a:ext cx="161665" cy="161665"/>
          </a:xfrm>
          <a:prstGeom prst="rect">
            <a:avLst/>
          </a:prstGeom>
        </p:spPr>
      </p:pic>
      <p:sp>
        <p:nvSpPr>
          <p:cNvPr id="116" name="Build 4 text"/>
          <p:cNvSpPr txBox="1"/>
          <p:nvPr/>
        </p:nvSpPr>
        <p:spPr>
          <a:xfrm>
            <a:off x="4758537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Act writers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levels as structured JSON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5928969" y="2057400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Build 5"/>
          <p:cNvSpPr/>
          <p:nvPr/>
        </p:nvSpPr>
        <p:spPr>
          <a:xfrm>
            <a:off x="6100876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1F140D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Build 5 icon"/>
          <p:cNvSpPr/>
          <p:nvPr/>
        </p:nvSpPr>
        <p:spPr>
          <a:xfrm>
            <a:off x="6192316" y="1691640"/>
            <a:ext cx="310896" cy="3108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FaShieldHalved-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6931" y="1766255"/>
            <a:ext cx="161665" cy="161665"/>
          </a:xfrm>
          <a:prstGeom prst="rect">
            <a:avLst/>
          </a:prstGeom>
        </p:spPr>
      </p:pic>
      <p:sp>
        <p:nvSpPr>
          <p:cNvPr id="121" name="Build 5 text"/>
          <p:cNvSpPr txBox="1"/>
          <p:nvPr/>
        </p:nvSpPr>
        <p:spPr>
          <a:xfrm>
            <a:off x="6192316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4ECD8"/>
                </a:solidFill>
                <a:latin typeface="Arial"/>
              </a:rPr>
              <a:t>Verify gate</a:t>
            </a:r>
          </a:p>
          <a:p>
            <a:pPr algn="l"/>
            <a:r>
              <a:rPr sz="850" b="0" i="0">
                <a:solidFill>
                  <a:srgbClr val="F4ECD8"/>
                </a:solidFill>
                <a:latin typeface="Arial"/>
              </a:rPr>
              <a:t>simulator · citations · evidence judge · live RAG run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7362748" y="2057400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Build 6"/>
          <p:cNvSpPr/>
          <p:nvPr/>
        </p:nvSpPr>
        <p:spPr>
          <a:xfrm>
            <a:off x="7534656" y="1600200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Build 6 icon"/>
          <p:cNvSpPr/>
          <p:nvPr/>
        </p:nvSpPr>
        <p:spPr>
          <a:xfrm>
            <a:off x="7626096" y="1691640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5" name="Picture 124" descr="FaPaintbrush-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0711" y="1766255"/>
            <a:ext cx="161665" cy="161665"/>
          </a:xfrm>
          <a:prstGeom prst="rect">
            <a:avLst/>
          </a:prstGeom>
        </p:spPr>
      </p:pic>
      <p:sp>
        <p:nvSpPr>
          <p:cNvPr id="126" name="Build 6 text"/>
          <p:cNvSpPr txBox="1"/>
          <p:nvPr/>
        </p:nvSpPr>
        <p:spPr>
          <a:xfrm>
            <a:off x="7626096" y="2048256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Nano Banana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cast, props and rooms painted</a:t>
            </a:r>
          </a:p>
        </p:txBody>
      </p:sp>
      <p:sp>
        <p:nvSpPr>
          <p:cNvPr id="127" name="Down Arrow 126"/>
          <p:cNvSpPr/>
          <p:nvPr/>
        </p:nvSpPr>
        <p:spPr>
          <a:xfrm>
            <a:off x="6631228" y="2770632"/>
            <a:ext cx="182880" cy="164592"/>
          </a:xfrm>
          <a:prstGeom prst="down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Play-tester pill"/>
          <p:cNvSpPr/>
          <p:nvPr/>
        </p:nvSpPr>
        <p:spPr>
          <a:xfrm>
            <a:off x="5533948" y="2962656"/>
            <a:ext cx="23774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Play-tester icon"/>
          <p:cNvSpPr/>
          <p:nvPr/>
        </p:nvSpPr>
        <p:spPr>
          <a:xfrm>
            <a:off x="5588812" y="2990088"/>
            <a:ext cx="292608" cy="29260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FaRobot-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59038" y="3060313"/>
            <a:ext cx="152156" cy="152156"/>
          </a:xfrm>
          <a:prstGeom prst="rect">
            <a:avLst/>
          </a:prstGeom>
        </p:spPr>
      </p:pic>
      <p:sp>
        <p:nvSpPr>
          <p:cNvPr id="131" name="Play-tester text"/>
          <p:cNvSpPr txBox="1"/>
          <p:nvPr/>
        </p:nvSpPr>
        <p:spPr>
          <a:xfrm>
            <a:off x="5936284" y="2962656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2E7D32"/>
                </a:solidFill>
                <a:latin typeface="Arial"/>
              </a:rPr>
              <a:t>Fails? </a:t>
            </a:r>
            <a:r>
              <a:rPr sz="850" b="0" i="0">
                <a:solidFill>
                  <a:srgbClr val="1A1A1A"/>
                </a:solidFill>
                <a:latin typeface="Arial"/>
              </a:rPr>
              <a:t>Gemini play-tests and fixes it with tools</a:t>
            </a:r>
          </a:p>
        </p:txBody>
      </p:sp>
      <p:sp>
        <p:nvSpPr>
          <p:cNvPr id="132" name="Play lane label"/>
          <p:cNvSpPr txBox="1"/>
          <p:nvPr/>
        </p:nvSpPr>
        <p:spPr>
          <a:xfrm>
            <a:off x="365760" y="3310128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A441"/>
                </a:solidFill>
                <a:latin typeface="Arial"/>
              </a:rPr>
              <a:t>PLAY</a:t>
            </a:r>
            <a:r>
              <a:rPr sz="950" b="0" i="0">
                <a:solidFill>
                  <a:srgbClr val="5F5F5F"/>
                </a:solidFill>
                <a:latin typeface="Arial"/>
              </a:rPr>
              <a:t>  every attempt</a:t>
            </a:r>
          </a:p>
        </p:txBody>
      </p:sp>
      <p:sp>
        <p:nvSpPr>
          <p:cNvPr id="133" name="Play 1"/>
          <p:cNvSpPr/>
          <p:nvPr/>
        </p:nvSpPr>
        <p:spPr>
          <a:xfrm>
            <a:off x="365760" y="3584448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Play 1 icon"/>
          <p:cNvSpPr/>
          <p:nvPr/>
        </p:nvSpPr>
        <p:spPr>
          <a:xfrm>
            <a:off x="457200" y="3675887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FaLightbulb-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1815" y="3750503"/>
            <a:ext cx="161665" cy="161665"/>
          </a:xfrm>
          <a:prstGeom prst="rect">
            <a:avLst/>
          </a:prstGeom>
        </p:spPr>
      </p:pic>
      <p:sp>
        <p:nvSpPr>
          <p:cNvPr id="136" name="Play 1 text"/>
          <p:cNvSpPr txBox="1"/>
          <p:nvPr/>
        </p:nvSpPr>
        <p:spPr>
          <a:xfrm>
            <a:off x="457200" y="4032504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Predict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commit to a guess</a:t>
            </a:r>
          </a:p>
        </p:txBody>
      </p:sp>
      <p:sp>
        <p:nvSpPr>
          <p:cNvPr id="137" name="Right Arrow 136"/>
          <p:cNvSpPr/>
          <p:nvPr/>
        </p:nvSpPr>
        <p:spPr>
          <a:xfrm>
            <a:off x="1627632" y="4041648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Play 2"/>
          <p:cNvSpPr/>
          <p:nvPr/>
        </p:nvSpPr>
        <p:spPr>
          <a:xfrm>
            <a:off x="1799539" y="3584448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Play 2 icon"/>
          <p:cNvSpPr/>
          <p:nvPr/>
        </p:nvSpPr>
        <p:spPr>
          <a:xfrm>
            <a:off x="1890979" y="3675887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FaGamepad-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65594" y="3750503"/>
            <a:ext cx="161665" cy="161665"/>
          </a:xfrm>
          <a:prstGeom prst="rect">
            <a:avLst/>
          </a:prstGeom>
        </p:spPr>
      </p:pic>
      <p:sp>
        <p:nvSpPr>
          <p:cNvPr id="141" name="Play 2 text"/>
          <p:cNvSpPr txBox="1"/>
          <p:nvPr/>
        </p:nvSpPr>
        <p:spPr>
          <a:xfrm>
            <a:off x="1890979" y="4032504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Act in the world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dials, boards, satchel</a:t>
            </a:r>
          </a:p>
        </p:txBody>
      </p:sp>
      <p:sp>
        <p:nvSpPr>
          <p:cNvPr id="142" name="Right Arrow 141"/>
          <p:cNvSpPr/>
          <p:nvPr/>
        </p:nvSpPr>
        <p:spPr>
          <a:xfrm>
            <a:off x="3061411" y="4041648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Play 3"/>
          <p:cNvSpPr/>
          <p:nvPr/>
        </p:nvSpPr>
        <p:spPr>
          <a:xfrm>
            <a:off x="3233318" y="3584448"/>
            <a:ext cx="1243584" cy="114300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Play 3 icon"/>
          <p:cNvSpPr/>
          <p:nvPr/>
        </p:nvSpPr>
        <p:spPr>
          <a:xfrm>
            <a:off x="3324758" y="3675887"/>
            <a:ext cx="310896" cy="310896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FaCircleCheck-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9373" y="3750503"/>
            <a:ext cx="161665" cy="161665"/>
          </a:xfrm>
          <a:prstGeom prst="rect">
            <a:avLst/>
          </a:prstGeom>
        </p:spPr>
      </p:pic>
      <p:sp>
        <p:nvSpPr>
          <p:cNvPr id="146" name="Play 3 text"/>
          <p:cNvSpPr txBox="1"/>
          <p:nvPr/>
        </p:nvSpPr>
        <p:spPr>
          <a:xfrm>
            <a:off x="3324758" y="4032504"/>
            <a:ext cx="10789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Arial"/>
              </a:rPr>
              <a:t>Code decides</a:t>
            </a:r>
          </a:p>
          <a:p>
            <a:pPr algn="l"/>
            <a:r>
              <a:rPr sz="850" b="0" i="0">
                <a:solidFill>
                  <a:srgbClr val="1A1A1A"/>
                </a:solidFill>
                <a:latin typeface="Arial"/>
              </a:rPr>
              <a:t>deterministic verdict, no AI opinion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5190" y="4041648"/>
            <a:ext cx="155448" cy="201168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Win outcome"/>
          <p:cNvSpPr/>
          <p:nvPr/>
        </p:nvSpPr>
        <p:spPr>
          <a:xfrm>
            <a:off x="4667097" y="3584448"/>
            <a:ext cx="2697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Win text"/>
          <p:cNvSpPr txBox="1"/>
          <p:nvPr/>
        </p:nvSpPr>
        <p:spPr>
          <a:xfrm>
            <a:off x="4776825" y="3584448"/>
            <a:ext cx="25146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2E7D32"/>
                </a:solidFill>
                <a:latin typeface="Arial"/>
              </a:rPr>
              <a:t>Win → </a:t>
            </a:r>
            <a:r>
              <a:rPr sz="850" b="0" i="0">
                <a:solidFill>
                  <a:srgbClr val="1A1A1A"/>
                </a:solidFill>
                <a:latin typeface="Arial"/>
              </a:rPr>
              <a:t>insight card (your guess vs reality, where the analogy breaks) → gate opens</a:t>
            </a:r>
          </a:p>
        </p:txBody>
      </p:sp>
      <p:sp>
        <p:nvSpPr>
          <p:cNvPr id="150" name="Miss outcome"/>
          <p:cNvSpPr/>
          <p:nvPr/>
        </p:nvSpPr>
        <p:spPr>
          <a:xfrm>
            <a:off x="4667097" y="4197096"/>
            <a:ext cx="2697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02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Miss text"/>
          <p:cNvSpPr txBox="1"/>
          <p:nvPr/>
        </p:nvSpPr>
        <p:spPr>
          <a:xfrm>
            <a:off x="4776825" y="4197096"/>
            <a:ext cx="25146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C0281E"/>
                </a:solidFill>
                <a:latin typeface="Arial"/>
              </a:rPr>
              <a:t>Miss → </a:t>
            </a:r>
            <a:r>
              <a:rPr sz="850" b="0" i="0">
                <a:solidFill>
                  <a:srgbClr val="1A1A1A"/>
                </a:solidFill>
                <a:latin typeface="Arial"/>
              </a:rPr>
              <a:t>Gemini names your misconception; its character walks in; try again ↺</a:t>
            </a:r>
          </a:p>
        </p:txBody>
      </p:sp>
      <p:sp>
        <p:nvSpPr>
          <p:cNvPr id="152" name="Referee note"/>
          <p:cNvSpPr txBox="1"/>
          <p:nvPr/>
        </p:nvSpPr>
        <p:spPr>
          <a:xfrm>
            <a:off x="7456017" y="3584448"/>
            <a:ext cx="1097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Every verdict comes from the game’s code; Gemini explains, never judges a win.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Not mock-ups: real screens from the running prototype</a:t>
            </a:r>
          </a:p>
        </p:txBody>
      </p:sp>
      <p:pic>
        <p:nvPicPr>
          <p:cNvPr id="105" name="Screen 1" descr="start.jpg"/>
          <p:cNvPicPr>
            <a:picLocks noChangeAspect="1"/>
          </p:cNvPicPr>
          <p:nvPr/>
        </p:nvPicPr>
        <p:blipFill>
          <a:blip r:embed="rId5"/>
          <a:srcRect l="20395" r="20395"/>
          <a:stretch>
            <a:fillRect/>
          </a:stretch>
        </p:blipFill>
        <p:spPr>
          <a:xfrm>
            <a:off x="365760" y="1371600"/>
            <a:ext cx="2743200" cy="2606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06" name="Screen 1 caption"/>
          <p:cNvSpPr txBox="1"/>
          <p:nvPr/>
        </p:nvSpPr>
        <p:spPr>
          <a:xfrm>
            <a:off x="365760" y="4069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1. Paste or pick</a:t>
            </a:r>
          </a:p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Drop in a chapter, or open a world we built: RAG, chemistry, history.</a:t>
            </a:r>
          </a:p>
        </p:txBody>
      </p:sp>
      <p:pic>
        <p:nvPicPr>
          <p:cNvPr id="107" name="Screen 2" descr="title-haveli.jpg"/>
          <p:cNvPicPr>
            <a:picLocks noChangeAspect="1"/>
          </p:cNvPicPr>
          <p:nvPr/>
        </p:nvPicPr>
        <p:blipFill>
          <a:blip r:embed="rId6"/>
          <a:srcRect l="20395" r="20395"/>
          <a:stretch>
            <a:fillRect/>
          </a:stretch>
        </p:blipFill>
        <p:spPr>
          <a:xfrm>
            <a:off x="3200400" y="1371600"/>
            <a:ext cx="2743200" cy="2606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08" name="Screen 2 caption"/>
          <p:cNvSpPr txBox="1"/>
          <p:nvPr/>
        </p:nvSpPr>
        <p:spPr>
          <a:xfrm>
            <a:off x="3200400" y="4069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2. A world, not a worksheet</a:t>
            </a:r>
          </a:p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Every chapter gets a title, a cast, a villain and a painted style.</a:t>
            </a:r>
          </a:p>
        </p:txBody>
      </p:sp>
      <p:pic>
        <p:nvPicPr>
          <p:cNvPr id="109" name="Screen 3" descr="predict.jpg"/>
          <p:cNvPicPr>
            <a:picLocks noChangeAspect="1"/>
          </p:cNvPicPr>
          <p:nvPr/>
        </p:nvPicPr>
        <p:blipFill>
          <a:blip r:embed="rId7"/>
          <a:srcRect l="20395" r="20395"/>
          <a:stretch>
            <a:fillRect/>
          </a:stretch>
        </p:blipFill>
        <p:spPr>
          <a:xfrm>
            <a:off x="6035040" y="1371600"/>
            <a:ext cx="2743200" cy="2606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10" name="Screen 3 caption"/>
          <p:cNvSpPr txBox="1"/>
          <p:nvPr/>
        </p:nvSpPr>
        <p:spPr>
          <a:xfrm>
            <a:off x="6035040" y="4069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3. Predict first</a:t>
            </a:r>
          </a:p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A guess before the act, compared with reality after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One Cloud Run service, Gemini at every stage, code as referee</a:t>
            </a:r>
          </a:p>
        </p:txBody>
      </p:sp>
      <p:sp>
        <p:nvSpPr>
          <p:cNvPr id="113" name="Browser box"/>
          <p:cNvSpPr/>
          <p:nvPr/>
        </p:nvSpPr>
        <p:spPr>
          <a:xfrm>
            <a:off x="365760" y="1417320"/>
            <a:ext cx="2011680" cy="28803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Browser icon"/>
          <p:cNvSpPr/>
          <p:nvPr/>
        </p:nvSpPr>
        <p:spPr>
          <a:xfrm>
            <a:off x="502920" y="1536192"/>
            <a:ext cx="365760" cy="365760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FaGamepad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702" y="1623974"/>
            <a:ext cx="190195" cy="190195"/>
          </a:xfrm>
          <a:prstGeom prst="rect">
            <a:avLst/>
          </a:prstGeom>
        </p:spPr>
      </p:pic>
      <p:sp>
        <p:nvSpPr>
          <p:cNvPr id="116" name="Browser title"/>
          <p:cNvSpPr txBox="1"/>
          <p:nvPr/>
        </p:nvSpPr>
        <p:spPr>
          <a:xfrm>
            <a:off x="960120" y="15544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Browser</a:t>
            </a:r>
          </a:p>
        </p:txBody>
      </p:sp>
      <p:sp>
        <p:nvSpPr>
          <p:cNvPr id="117" name="Browser body"/>
          <p:cNvSpPr txBox="1"/>
          <p:nvPr/>
        </p:nvSpPr>
        <p:spPr>
          <a:xfrm>
            <a:off x="502920" y="2011680"/>
            <a:ext cx="1783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React 18 UI: boards, ✓ verified card, adaptation cards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Phaser 3 isometric engine: painted rooms, cast, gates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Typed API client; live build progress over SSE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Mock mode: the demo runs with no server at all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2432304" y="2651760"/>
            <a:ext cx="274320" cy="237744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Cloud Run box"/>
          <p:cNvSpPr/>
          <p:nvPr/>
        </p:nvSpPr>
        <p:spPr>
          <a:xfrm>
            <a:off x="2761488" y="1417320"/>
            <a:ext cx="3291840" cy="2880360"/>
          </a:xfrm>
          <a:prstGeom prst="roundRect">
            <a:avLst>
              <a:gd name="adj" fmla="val 8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Cloud Run icon"/>
          <p:cNvSpPr/>
          <p:nvPr/>
        </p:nvSpPr>
        <p:spPr>
          <a:xfrm>
            <a:off x="2898648" y="1536192"/>
            <a:ext cx="365760" cy="3657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FaCloud-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6430" y="1623974"/>
            <a:ext cx="190195" cy="190195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355848" y="15544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4ECD8"/>
                </a:solidFill>
                <a:latin typeface="Arial"/>
              </a:rPr>
              <a:t>Cloud Run — one container</a:t>
            </a:r>
          </a:p>
        </p:txBody>
      </p:sp>
      <p:sp>
        <p:nvSpPr>
          <p:cNvPr id="123" name="Module 1"/>
          <p:cNvSpPr/>
          <p:nvPr/>
        </p:nvSpPr>
        <p:spPr>
          <a:xfrm>
            <a:off x="2898648" y="1984248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Module 1 text"/>
          <p:cNvSpPr txBox="1"/>
          <p:nvPr/>
        </p:nvSpPr>
        <p:spPr>
          <a:xfrm>
            <a:off x="2990088" y="1984248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Design pipeline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curriculum → writers’ room → act writers</a:t>
            </a:r>
          </a:p>
        </p:txBody>
      </p:sp>
      <p:sp>
        <p:nvSpPr>
          <p:cNvPr id="125" name="Module 2"/>
          <p:cNvSpPr/>
          <p:nvPr/>
        </p:nvSpPr>
        <p:spPr>
          <a:xfrm>
            <a:off x="2898648" y="2359152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Module 2 text"/>
          <p:cNvSpPr txBox="1"/>
          <p:nvPr/>
        </p:nvSpPr>
        <p:spPr>
          <a:xfrm>
            <a:off x="2990088" y="2359152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Verifier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simulator, citations, guess odds — deterministic</a:t>
            </a:r>
          </a:p>
        </p:txBody>
      </p:sp>
      <p:sp>
        <p:nvSpPr>
          <p:cNvPr id="127" name="Module 3"/>
          <p:cNvSpPr/>
          <p:nvPr/>
        </p:nvSpPr>
        <p:spPr>
          <a:xfrm>
            <a:off x="2898648" y="2734056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Module 3 text"/>
          <p:cNvSpPr txBox="1"/>
          <p:nvPr/>
        </p:nvSpPr>
        <p:spPr>
          <a:xfrm>
            <a:off x="2990088" y="2734056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Play-tester agent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Gemini function calling over the game</a:t>
            </a:r>
          </a:p>
        </p:txBody>
      </p:sp>
      <p:sp>
        <p:nvSpPr>
          <p:cNvPr id="129" name="Module 4"/>
          <p:cNvSpPr/>
          <p:nvPr/>
        </p:nvSpPr>
        <p:spPr>
          <a:xfrm>
            <a:off x="2898648" y="3108960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Module 4 text"/>
          <p:cNvSpPr txBox="1"/>
          <p:nvPr/>
        </p:nvSpPr>
        <p:spPr>
          <a:xfrm>
            <a:off x="2990088" y="310896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Live RAG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chunk · embed · retrieve · rerank · answer · judge</a:t>
            </a:r>
          </a:p>
        </p:txBody>
      </p:sp>
      <p:sp>
        <p:nvSpPr>
          <p:cNvPr id="131" name="Module 5"/>
          <p:cNvSpPr/>
          <p:nvPr/>
        </p:nvSpPr>
        <p:spPr>
          <a:xfrm>
            <a:off x="2898648" y="3483863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Module 5 text"/>
          <p:cNvSpPr txBox="1"/>
          <p:nvPr/>
        </p:nvSpPr>
        <p:spPr>
          <a:xfrm>
            <a:off x="2990088" y="3483863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Guide &amp; adaptation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misconception diagnosis, ~1.5 s</a:t>
            </a:r>
          </a:p>
        </p:txBody>
      </p:sp>
      <p:sp>
        <p:nvSpPr>
          <p:cNvPr id="133" name="Module 6"/>
          <p:cNvSpPr/>
          <p:nvPr/>
        </p:nvSpPr>
        <p:spPr>
          <a:xfrm>
            <a:off x="2898648" y="3858768"/>
            <a:ext cx="3017520" cy="329184"/>
          </a:xfrm>
          <a:prstGeom prst="roundRect">
            <a:avLst>
              <a:gd name="adj" fmla="val 20000"/>
            </a:avLst>
          </a:prstGeom>
          <a:solidFill>
            <a:srgbClr val="33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Module 6 text"/>
          <p:cNvSpPr txBox="1"/>
          <p:nvPr/>
        </p:nvSpPr>
        <p:spPr>
          <a:xfrm>
            <a:off x="2990088" y="3858768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D9A441"/>
                </a:solidFill>
                <a:latin typeface="Arial"/>
              </a:rPr>
              <a:t>Caches  </a:t>
            </a:r>
            <a:r>
              <a:rPr sz="850" b="0" i="0">
                <a:solidFill>
                  <a:srgbClr val="F4ECD8"/>
                </a:solidFill>
                <a:latin typeface="Arial"/>
              </a:rPr>
              <a:t>scripts, art, RAG runs — keyed by chapter hash</a:t>
            </a:r>
          </a:p>
        </p:txBody>
      </p:sp>
      <p:sp>
        <p:nvSpPr>
          <p:cNvPr id="135" name="Right Arrow 134"/>
          <p:cNvSpPr/>
          <p:nvPr/>
        </p:nvSpPr>
        <p:spPr>
          <a:xfrm>
            <a:off x="6108192" y="2651760"/>
            <a:ext cx="274320" cy="237744"/>
          </a:xfrm>
          <a:prstGeom prst="rightArrow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emini box"/>
          <p:cNvSpPr/>
          <p:nvPr/>
        </p:nvSpPr>
        <p:spPr>
          <a:xfrm>
            <a:off x="6437376" y="1417320"/>
            <a:ext cx="2340864" cy="28803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Gemini icon"/>
          <p:cNvSpPr/>
          <p:nvPr/>
        </p:nvSpPr>
        <p:spPr>
          <a:xfrm>
            <a:off x="6574536" y="1536192"/>
            <a:ext cx="365760" cy="365760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FaWandMagicSparkles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318" y="1623974"/>
            <a:ext cx="190195" cy="190195"/>
          </a:xfrm>
          <a:prstGeom prst="rect">
            <a:avLst/>
          </a:prstGeom>
        </p:spPr>
      </p:pic>
      <p:sp>
        <p:nvSpPr>
          <p:cNvPr id="139" name="Gemini title"/>
          <p:cNvSpPr txBox="1"/>
          <p:nvPr/>
        </p:nvSpPr>
        <p:spPr>
          <a:xfrm>
            <a:off x="7031736" y="1554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Gemini on Vertex AI</a:t>
            </a:r>
          </a:p>
        </p:txBody>
      </p:sp>
      <p:sp>
        <p:nvSpPr>
          <p:cNvPr id="140" name="Gemini models"/>
          <p:cNvSpPr txBox="1"/>
          <p:nvPr/>
        </p:nvSpPr>
        <p:spPr>
          <a:xfrm>
            <a:off x="6574536" y="2011680"/>
            <a:ext cx="212140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Arial"/>
              </a:rPr>
              <a:t>Gemini 4 Argon</a:t>
            </a:r>
          </a:p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5F5F5F"/>
                </a:solidFill>
                <a:latin typeface="Arial"/>
              </a:rPr>
              <a:t>design, act writing, evidence judge</a:t>
            </a:r>
          </a:p>
          <a:p>
            <a:pPr algn="l"/>
            <a:r>
              <a:rPr sz="950" b="1" i="0">
                <a:solidFill>
                  <a:srgbClr val="1A1A1A"/>
                </a:solidFill>
                <a:latin typeface="Arial"/>
              </a:rPr>
              <a:t>Gemini 3.8 Flash</a:t>
            </a:r>
          </a:p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5F5F5F"/>
                </a:solidFill>
                <a:latin typeface="Arial"/>
              </a:rPr>
              <a:t>play-tester, Oracle answers, RAG judge</a:t>
            </a:r>
          </a:p>
          <a:p>
            <a:pPr algn="l"/>
            <a:r>
              <a:rPr sz="950" b="1" i="0">
                <a:solidFill>
                  <a:srgbClr val="1A1A1A"/>
                </a:solidFill>
                <a:latin typeface="Arial"/>
              </a:rPr>
              <a:t>Gemini 3.5 Flash-Lite</a:t>
            </a:r>
          </a:p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5F5F5F"/>
                </a:solidFill>
                <a:latin typeface="Arial"/>
              </a:rPr>
              <a:t>guide, adaptation, reranking</a:t>
            </a:r>
          </a:p>
          <a:p>
            <a:pPr algn="l"/>
            <a:r>
              <a:rPr sz="950" b="1" i="0">
                <a:solidFill>
                  <a:srgbClr val="1A1A1A"/>
                </a:solidFill>
                <a:latin typeface="Arial"/>
              </a:rPr>
              <a:t>Nano Banana 2.1</a:t>
            </a:r>
          </a:p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5F5F5F"/>
                </a:solidFill>
                <a:latin typeface="Arial"/>
              </a:rPr>
              <a:t>the art</a:t>
            </a:r>
          </a:p>
          <a:p>
            <a:pPr algn="l"/>
            <a:r>
              <a:rPr sz="950" b="1" i="0">
                <a:solidFill>
                  <a:srgbClr val="1A1A1A"/>
                </a:solidFill>
                <a:latin typeface="Arial"/>
              </a:rPr>
              <a:t>Gemini Embedding</a:t>
            </a:r>
          </a:p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5F5F5F"/>
                </a:solidFill>
                <a:latin typeface="Arial"/>
              </a:rPr>
              <a:t>retrieval over the chapter</a:t>
            </a:r>
          </a:p>
        </p:txBody>
      </p:sp>
      <p:sp>
        <p:nvSpPr>
          <p:cNvPr id="141" name="Deploy line"/>
          <p:cNvSpPr txBox="1"/>
          <p:nvPr/>
        </p:nvSpPr>
        <p:spPr>
          <a:xfrm>
            <a:off x="365760" y="4407408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F5F5F"/>
                </a:solidFill>
                <a:latin typeface="Arial"/>
              </a:rPr>
              <a:t>Deploy: </a:t>
            </a:r>
            <a:r>
              <a:rPr sz="950" b="0" i="0">
                <a:solidFill>
                  <a:srgbClr val="5F5F5F"/>
                </a:solidFill>
                <a:latin typeface="Arial"/>
              </a:rPr>
              <a:t>Docker → Cloud Build / Artifact Registry → Cloud Run (asia-southeast1) · Gemini via Vertex AI with the service account, no API keys · built worlds ship in the image, so the demo opens instantly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Gemini on Vertex AI, used five ways — Google Cloud end to end</a:t>
            </a:r>
          </a:p>
        </p:txBody>
      </p:sp>
      <p:graphicFrame>
        <p:nvGraphicFramePr>
          <p:cNvPr id="121" name="Table 120"/>
          <p:cNvGraphicFramePr>
            <a:graphicFrameLocks noGrp="1"/>
          </p:cNvGraphicFramePr>
          <p:nvPr/>
        </p:nvGraphicFramePr>
        <p:xfrm>
          <a:off x="365760" y="1417320"/>
          <a:ext cx="5577840" cy="3017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77440"/>
                <a:gridCol w="1783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>What it does here</a:t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>Gemini capability</a:t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Gemini 4 Argon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Curriculum, story drafts and judge, act writing, evidence judge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Structured output (JSON schemas), PDF input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Gemini 3.8 Flash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Play-tester agent, Oracle answers, RAG judge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Function calling (tool use)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Gemini 3.5 Flash-Lite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Guide, misconception diagnosis, reranking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Low-latency structured output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Nano Banana 2.1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Cast, props, rooms, walk sheets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Image generation with a style reference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Gemini Embedding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Live retrieval over the uploaded chapter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Embeddings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2" name="Stack title"/>
          <p:cNvSpPr txBox="1"/>
          <p:nvPr/>
        </p:nvSpPr>
        <p:spPr>
          <a:xfrm>
            <a:off x="621792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Cloud &amp; app stack</a:t>
            </a:r>
          </a:p>
        </p:txBody>
      </p:sp>
      <p:sp>
        <p:nvSpPr>
          <p:cNvPr id="123" name="Chip Vertex AI"/>
          <p:cNvSpPr/>
          <p:nvPr/>
        </p:nvSpPr>
        <p:spPr>
          <a:xfrm>
            <a:off x="6217920" y="1783080"/>
            <a:ext cx="738835" cy="301752"/>
          </a:xfrm>
          <a:prstGeom prst="roundRect">
            <a:avLst>
              <a:gd name="adj" fmla="val 50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Chip Vertex AI text"/>
          <p:cNvSpPr txBox="1"/>
          <p:nvPr/>
        </p:nvSpPr>
        <p:spPr>
          <a:xfrm>
            <a:off x="6217920" y="1783080"/>
            <a:ext cx="738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F4ECD8"/>
                </a:solidFill>
                <a:latin typeface="Arial"/>
              </a:rPr>
              <a:t>Vertex AI</a:t>
            </a:r>
          </a:p>
        </p:txBody>
      </p:sp>
      <p:sp>
        <p:nvSpPr>
          <p:cNvPr id="125" name="Chip Cloud Run"/>
          <p:cNvSpPr/>
          <p:nvPr/>
        </p:nvSpPr>
        <p:spPr>
          <a:xfrm>
            <a:off x="7029907" y="1783080"/>
            <a:ext cx="738835" cy="301752"/>
          </a:xfrm>
          <a:prstGeom prst="roundRect">
            <a:avLst>
              <a:gd name="adj" fmla="val 50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Chip Cloud Run text"/>
          <p:cNvSpPr txBox="1"/>
          <p:nvPr/>
        </p:nvSpPr>
        <p:spPr>
          <a:xfrm>
            <a:off x="7029907" y="1783080"/>
            <a:ext cx="738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F4ECD8"/>
                </a:solidFill>
                <a:latin typeface="Arial"/>
              </a:rPr>
              <a:t>Cloud Run</a:t>
            </a:r>
          </a:p>
        </p:txBody>
      </p:sp>
      <p:sp>
        <p:nvSpPr>
          <p:cNvPr id="127" name="Chip Cloud Build"/>
          <p:cNvSpPr/>
          <p:nvPr/>
        </p:nvSpPr>
        <p:spPr>
          <a:xfrm>
            <a:off x="7841894" y="1783080"/>
            <a:ext cx="870508" cy="301752"/>
          </a:xfrm>
          <a:prstGeom prst="roundRect">
            <a:avLst>
              <a:gd name="adj" fmla="val 50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Chip Cloud Build text"/>
          <p:cNvSpPr txBox="1"/>
          <p:nvPr/>
        </p:nvSpPr>
        <p:spPr>
          <a:xfrm>
            <a:off x="7841894" y="1783080"/>
            <a:ext cx="870508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F4ECD8"/>
                </a:solidFill>
                <a:latin typeface="Arial"/>
              </a:rPr>
              <a:t>Cloud Build</a:t>
            </a:r>
          </a:p>
        </p:txBody>
      </p:sp>
      <p:sp>
        <p:nvSpPr>
          <p:cNvPr id="129" name="Chip Artifact Registry"/>
          <p:cNvSpPr/>
          <p:nvPr/>
        </p:nvSpPr>
        <p:spPr>
          <a:xfrm>
            <a:off x="6217920" y="2167128"/>
            <a:ext cx="1265529" cy="301752"/>
          </a:xfrm>
          <a:prstGeom prst="roundRect">
            <a:avLst>
              <a:gd name="adj" fmla="val 50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Chip Artifact Registry text"/>
          <p:cNvSpPr txBox="1"/>
          <p:nvPr/>
        </p:nvSpPr>
        <p:spPr>
          <a:xfrm>
            <a:off x="6217920" y="2167128"/>
            <a:ext cx="1265529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F4ECD8"/>
                </a:solidFill>
                <a:latin typeface="Arial"/>
              </a:rPr>
              <a:t>Artifact Registry</a:t>
            </a:r>
          </a:p>
        </p:txBody>
      </p:sp>
      <p:sp>
        <p:nvSpPr>
          <p:cNvPr id="131" name="Chip TypeScript monorepo"/>
          <p:cNvSpPr/>
          <p:nvPr/>
        </p:nvSpPr>
        <p:spPr>
          <a:xfrm>
            <a:off x="6217920" y="2551176"/>
            <a:ext cx="1397203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Chip TypeScript monorepo text"/>
          <p:cNvSpPr txBox="1"/>
          <p:nvPr/>
        </p:nvSpPr>
        <p:spPr>
          <a:xfrm>
            <a:off x="6217920" y="2551176"/>
            <a:ext cx="1397203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TypeScript monorepo</a:t>
            </a:r>
          </a:p>
        </p:txBody>
      </p:sp>
      <p:sp>
        <p:nvSpPr>
          <p:cNvPr id="133" name="Chip React 18 + Vite"/>
          <p:cNvSpPr/>
          <p:nvPr/>
        </p:nvSpPr>
        <p:spPr>
          <a:xfrm>
            <a:off x="6217920" y="2935224"/>
            <a:ext cx="1133855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Chip React 18 + Vite text"/>
          <p:cNvSpPr txBox="1"/>
          <p:nvPr/>
        </p:nvSpPr>
        <p:spPr>
          <a:xfrm>
            <a:off x="6217920" y="2935224"/>
            <a:ext cx="113385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React 18 + Vite</a:t>
            </a:r>
          </a:p>
        </p:txBody>
      </p:sp>
      <p:sp>
        <p:nvSpPr>
          <p:cNvPr id="135" name="Chip Phaser 3"/>
          <p:cNvSpPr/>
          <p:nvPr/>
        </p:nvSpPr>
        <p:spPr>
          <a:xfrm>
            <a:off x="7424927" y="2935224"/>
            <a:ext cx="672998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Chip Phaser 3 text"/>
          <p:cNvSpPr txBox="1"/>
          <p:nvPr/>
        </p:nvSpPr>
        <p:spPr>
          <a:xfrm>
            <a:off x="7424927" y="2935224"/>
            <a:ext cx="672998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Phaser 3</a:t>
            </a:r>
          </a:p>
        </p:txBody>
      </p:sp>
      <p:sp>
        <p:nvSpPr>
          <p:cNvPr id="137" name="Chip Node 20 + Express"/>
          <p:cNvSpPr/>
          <p:nvPr/>
        </p:nvSpPr>
        <p:spPr>
          <a:xfrm>
            <a:off x="6217920" y="3319272"/>
            <a:ext cx="1265529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Chip Node 20 + Express text"/>
          <p:cNvSpPr txBox="1"/>
          <p:nvPr/>
        </p:nvSpPr>
        <p:spPr>
          <a:xfrm>
            <a:off x="6217920" y="3319272"/>
            <a:ext cx="1265529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Node 20 + Express</a:t>
            </a:r>
          </a:p>
        </p:txBody>
      </p:sp>
      <p:sp>
        <p:nvSpPr>
          <p:cNvPr id="139" name="Chip Docker"/>
          <p:cNvSpPr/>
          <p:nvPr/>
        </p:nvSpPr>
        <p:spPr>
          <a:xfrm>
            <a:off x="7556601" y="3319272"/>
            <a:ext cx="541324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Chip Docker text"/>
          <p:cNvSpPr txBox="1"/>
          <p:nvPr/>
        </p:nvSpPr>
        <p:spPr>
          <a:xfrm>
            <a:off x="7556601" y="3319272"/>
            <a:ext cx="541324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Docker</a:t>
            </a:r>
          </a:p>
        </p:txBody>
      </p:sp>
      <p:sp>
        <p:nvSpPr>
          <p:cNvPr id="141" name="Chip node:test — 231 tests"/>
          <p:cNvSpPr/>
          <p:nvPr/>
        </p:nvSpPr>
        <p:spPr>
          <a:xfrm>
            <a:off x="6217920" y="3703320"/>
            <a:ext cx="1528876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Chip node:test — 231 tests text"/>
          <p:cNvSpPr txBox="1"/>
          <p:nvPr/>
        </p:nvSpPr>
        <p:spPr>
          <a:xfrm>
            <a:off x="6217920" y="3703320"/>
            <a:ext cx="1528876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node:test — 231 tests</a:t>
            </a:r>
          </a:p>
        </p:txBody>
      </p:sp>
      <p:sp>
        <p:nvSpPr>
          <p:cNvPr id="143" name="Chip Playwright headless QA"/>
          <p:cNvSpPr/>
          <p:nvPr/>
        </p:nvSpPr>
        <p:spPr>
          <a:xfrm>
            <a:off x="6217920" y="4087368"/>
            <a:ext cx="1594713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Chip Playwright headless QA text"/>
          <p:cNvSpPr txBox="1"/>
          <p:nvPr/>
        </p:nvSpPr>
        <p:spPr>
          <a:xfrm>
            <a:off x="6217920" y="4087368"/>
            <a:ext cx="1594713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Playwright headless QA</a:t>
            </a:r>
          </a:p>
        </p:txBody>
      </p:sp>
      <p:sp>
        <p:nvSpPr>
          <p:cNvPr id="145" name="Chip pdf.js"/>
          <p:cNvSpPr/>
          <p:nvPr/>
        </p:nvSpPr>
        <p:spPr>
          <a:xfrm>
            <a:off x="7885785" y="4087368"/>
            <a:ext cx="541324" cy="301752"/>
          </a:xfrm>
          <a:prstGeom prst="roundRect">
            <a:avLst>
              <a:gd name="adj" fmla="val 50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Chip pdf.js text"/>
          <p:cNvSpPr txBox="1"/>
          <p:nvPr/>
        </p:nvSpPr>
        <p:spPr>
          <a:xfrm>
            <a:off x="7885785" y="4087368"/>
            <a:ext cx="541324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pdf.js</a:t>
            </a:r>
          </a:p>
        </p:txBody>
      </p:sp>
      <p:sp>
        <p:nvSpPr>
          <p:cNvPr id="147" name="Safety note"/>
          <p:cNvSpPr txBox="1"/>
          <p:nvPr/>
        </p:nvSpPr>
        <p:spPr>
          <a:xfrm>
            <a:off x="365760" y="459028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Everything the AI makes is structured data. Nothing it writes is executed — the game’s own code runs every check.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Pay once per chapter. Every replay is free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65760" y="141732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1737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>What it takes</a:t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4ECD8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anchor="ctr">
                    <a:solidFill>
                      <a:srgbClr val="1F140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Build a world (script)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≈13 model calls, ≈95k tokens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5F5F5F"/>
                          </a:solidFill>
                          <a:latin typeface="Arial"/>
                        </a:rPr>
                        <a:t>Measured: average of 8 chapters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Paint a world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16–21 Nano Banana images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5F5F5F"/>
                          </a:solidFill>
                          <a:latin typeface="Arial"/>
                        </a:rPr>
                        <a:t>Measured; 3 painted at once, ~2 min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Replay a built world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$0 — scripts, art and RAG runs cached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5F5F5F"/>
                          </a:solidFill>
                          <a:latin typeface="Arial"/>
                        </a:rPr>
                        <a:t>Measured: cache keyed by chapter hash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One adaptation (per miss)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1 Flash-Lite call, ~1.5 s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5F5F5F"/>
                          </a:solidFill>
                          <a:latin typeface="Arial"/>
                        </a:rPr>
                        <a:t>Measured latency</a:t>
                      </a:r>
                    </a:p>
                  </a:txBody>
                  <a:tcPr marL="64008" marR="64008" anchor="ctr">
                    <a:solidFill>
                      <a:srgbClr val="F4F2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One Cloud Run container, scales to zero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5F5F5F"/>
                          </a:solidFill>
                          <a:latin typeface="Arial"/>
                        </a:rPr>
                        <a:t>745 MB image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Cost stat 1"/>
          <p:cNvSpPr/>
          <p:nvPr/>
        </p:nvSpPr>
        <p:spPr>
          <a:xfrm>
            <a:off x="6263640" y="1417320"/>
            <a:ext cx="2514600" cy="896112"/>
          </a:xfrm>
          <a:prstGeom prst="roundRect">
            <a:avLst>
              <a:gd name="adj" fmla="val 8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Cost stat 1 value"/>
          <p:cNvSpPr txBox="1"/>
          <p:nvPr/>
        </p:nvSpPr>
        <p:spPr>
          <a:xfrm>
            <a:off x="6400800" y="149047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A441"/>
                </a:solidFill>
                <a:latin typeface="Google Sans Flex"/>
              </a:rPr>
              <a:t>≈$0.20–0.40</a:t>
            </a:r>
          </a:p>
        </p:txBody>
      </p:sp>
      <p:sp>
        <p:nvSpPr>
          <p:cNvPr id="132" name="Cost stat 1 label"/>
          <p:cNvSpPr txBox="1"/>
          <p:nvPr/>
        </p:nvSpPr>
        <p:spPr>
          <a:xfrm>
            <a:off x="6400800" y="192938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4ECD8"/>
                </a:solidFill>
                <a:latin typeface="Arial"/>
              </a:rPr>
              <a:t>to write and verify one world’s script*</a:t>
            </a:r>
          </a:p>
        </p:txBody>
      </p:sp>
      <p:sp>
        <p:nvSpPr>
          <p:cNvPr id="133" name="Cost stat 2"/>
          <p:cNvSpPr/>
          <p:nvPr/>
        </p:nvSpPr>
        <p:spPr>
          <a:xfrm>
            <a:off x="6263640" y="2404872"/>
            <a:ext cx="25146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Cost stat 2 value"/>
          <p:cNvSpPr txBox="1"/>
          <p:nvPr/>
        </p:nvSpPr>
        <p:spPr>
          <a:xfrm>
            <a:off x="6400800" y="247802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Google Sans Flex"/>
              </a:rPr>
              <a:t>$0</a:t>
            </a:r>
          </a:p>
        </p:txBody>
      </p:sp>
      <p:sp>
        <p:nvSpPr>
          <p:cNvPr id="135" name="Cost stat 2 label"/>
          <p:cNvSpPr txBox="1"/>
          <p:nvPr/>
        </p:nvSpPr>
        <p:spPr>
          <a:xfrm>
            <a:off x="6400800" y="291693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to replay it, for any number of learners</a:t>
            </a:r>
          </a:p>
        </p:txBody>
      </p:sp>
      <p:sp>
        <p:nvSpPr>
          <p:cNvPr id="136" name="Cost stat 3"/>
          <p:cNvSpPr/>
          <p:nvPr/>
        </p:nvSpPr>
        <p:spPr>
          <a:xfrm>
            <a:off x="6263640" y="3392424"/>
            <a:ext cx="25146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Cost stat 3 value"/>
          <p:cNvSpPr txBox="1"/>
          <p:nvPr/>
        </p:nvSpPr>
        <p:spPr>
          <a:xfrm>
            <a:off x="6400800" y="346557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Google Sans Flex"/>
              </a:rPr>
              <a:t>~1.5 s</a:t>
            </a:r>
          </a:p>
        </p:txBody>
      </p:sp>
      <p:sp>
        <p:nvSpPr>
          <p:cNvPr id="138" name="Cost stat 3 label"/>
          <p:cNvSpPr txBox="1"/>
          <p:nvPr/>
        </p:nvSpPr>
        <p:spPr>
          <a:xfrm>
            <a:off x="6400800" y="3904487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for a misconception-aware hint</a:t>
            </a:r>
          </a:p>
        </p:txBody>
      </p:sp>
      <p:sp>
        <p:nvSpPr>
          <p:cNvPr id="139" name="Cost footnote"/>
          <p:cNvSpPr txBox="1"/>
          <p:nvPr/>
        </p:nvSpPr>
        <p:spPr>
          <a:xfrm>
            <a:off x="365760" y="44622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F5F5F"/>
                </a:solidFill>
                <a:latin typeface="Arial"/>
              </a:rPr>
              <a:t>*Estimate at the per-token prices our router reports for Gemini 4 Argon ($2 in / $10 out per 1M tokens); the range covers the unmeasured input/output split. Image pricing excluded.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Snapshots from the working prototype</a:t>
            </a:r>
          </a:p>
        </p:txBody>
      </p:sp>
      <p:pic>
        <p:nvPicPr>
          <p:cNvPr id="137" name="Snapshot 1" descr="evidence-adapt.jpg"/>
          <p:cNvPicPr>
            <a:picLocks noChangeAspect="1"/>
          </p:cNvPicPr>
          <p:nvPr/>
        </p:nvPicPr>
        <p:blipFill>
          <a:blip r:embed="rId5"/>
          <a:srcRect t="7497" b="29988"/>
          <a:stretch>
            <a:fillRect/>
          </a:stretch>
        </p:blipFill>
        <p:spPr>
          <a:xfrm>
            <a:off x="365760" y="1371600"/>
            <a:ext cx="4160520" cy="1463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38" name="Snapshot 1 caption"/>
          <p:cNvSpPr txBox="1"/>
          <p:nvPr/>
        </p:nvSpPr>
        <p:spPr>
          <a:xfrm>
            <a:off x="365760" y="28620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Pin the wrong document — the character who embodies your mistake walks in</a:t>
            </a:r>
          </a:p>
        </p:txBody>
      </p:sp>
      <p:pic>
        <p:nvPicPr>
          <p:cNvPr id="139" name="Snapshot 2" descr="rag-fail.jpg"/>
          <p:cNvPicPr>
            <a:picLocks noChangeAspect="1"/>
          </p:cNvPicPr>
          <p:nvPr/>
        </p:nvPicPr>
        <p:blipFill>
          <a:blip r:embed="rId6"/>
          <a:srcRect t="9371" b="28114"/>
          <a:stretch>
            <a:fillRect/>
          </a:stretch>
        </p:blipFill>
        <p:spPr>
          <a:xfrm>
            <a:off x="4617720" y="1371600"/>
            <a:ext cx="4160520" cy="1463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40" name="Snapshot 2 caption"/>
          <p:cNvSpPr txBox="1"/>
          <p:nvPr/>
        </p:nvSpPr>
        <p:spPr>
          <a:xfrm>
            <a:off x="4617720" y="28620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Live RAG over the chapter: a right answer still fails — the fact was torn</a:t>
            </a:r>
          </a:p>
        </p:txBody>
      </p:sp>
      <p:pic>
        <p:nvPicPr>
          <p:cNvPr id="141" name="Snapshot 3" descr="sequence-fail.jpg"/>
          <p:cNvPicPr>
            <a:picLocks noChangeAspect="1"/>
          </p:cNvPicPr>
          <p:nvPr/>
        </p:nvPicPr>
        <p:blipFill>
          <a:blip r:embed="rId7"/>
          <a:srcRect t="16868" b="20617"/>
          <a:stretch>
            <a:fillRect/>
          </a:stretch>
        </p:blipFill>
        <p:spPr>
          <a:xfrm>
            <a:off x="365760" y="3154680"/>
            <a:ext cx="4160520" cy="1463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42" name="Snapshot 3 caption"/>
          <p:cNvSpPr txBox="1"/>
          <p:nvPr/>
        </p:nvSpPr>
        <p:spPr>
          <a:xfrm>
            <a:off x="365760" y="464515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Order a process; a broken link explains itself, quoted from your notes</a:t>
            </a:r>
          </a:p>
        </p:txBody>
      </p:sp>
      <p:pic>
        <p:nvPicPr>
          <p:cNvPr id="143" name="Snapshot 4" descr="verified-rag.jpg"/>
          <p:cNvPicPr>
            <a:picLocks noChangeAspect="1"/>
          </p:cNvPicPr>
          <p:nvPr/>
        </p:nvPicPr>
        <p:blipFill>
          <a:blip r:embed="rId8"/>
          <a:srcRect t="18742" b="18742"/>
          <a:stretch>
            <a:fillRect/>
          </a:stretch>
        </p:blipFill>
        <p:spPr>
          <a:xfrm>
            <a:off x="4617720" y="3154680"/>
            <a:ext cx="4160520" cy="1463040"/>
          </a:xfrm>
          <a:prstGeom prst="rect">
            <a:avLst/>
          </a:prstGeom>
          <a:ln w="9525">
            <a:solidFill>
              <a:srgbClr val="DDD8CE"/>
            </a:solidFill>
          </a:ln>
        </p:spPr>
      </p:pic>
      <p:sp>
        <p:nvSpPr>
          <p:cNvPr id="144" name="Snapshot 4 caption"/>
          <p:cNvSpPr txBox="1"/>
          <p:nvPr/>
        </p:nvSpPr>
        <p:spPr>
          <a:xfrm>
            <a:off x="4617720" y="464515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F5F5F"/>
                </a:solidFill>
                <a:latin typeface="Arial"/>
              </a:rPr>
              <a:t>The ✓ verified card: what was proved before you played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Measured, not claimed: 8 real chapters rebuilt from scratch</a:t>
            </a:r>
          </a:p>
        </p:txBody>
      </p:sp>
      <p:sp>
        <p:nvSpPr>
          <p:cNvPr id="145" name="KPI 1"/>
          <p:cNvSpPr/>
          <p:nvPr/>
        </p:nvSpPr>
        <p:spPr>
          <a:xfrm>
            <a:off x="365760" y="14173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KPI 1 value"/>
          <p:cNvSpPr txBox="1"/>
          <p:nvPr/>
        </p:nvSpPr>
        <p:spPr>
          <a:xfrm>
            <a:off x="457200" y="15270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9A441"/>
                </a:solidFill>
                <a:latin typeface="Google Sans Flex"/>
              </a:rPr>
              <a:t>8/8</a:t>
            </a:r>
          </a:p>
        </p:txBody>
      </p:sp>
      <p:sp>
        <p:nvSpPr>
          <p:cNvPr id="147" name="KPI 1 label"/>
          <p:cNvSpPr txBox="1"/>
          <p:nvPr/>
        </p:nvSpPr>
        <p:spPr>
          <a:xfrm>
            <a:off x="457200" y="2075688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F4ECD8"/>
                </a:solidFill>
                <a:latin typeface="Arial"/>
              </a:rPr>
              <a:t>chapters became a game from their own content</a:t>
            </a:r>
          </a:p>
        </p:txBody>
      </p:sp>
      <p:sp>
        <p:nvSpPr>
          <p:cNvPr id="148" name="KPI 2"/>
          <p:cNvSpPr/>
          <p:nvPr/>
        </p:nvSpPr>
        <p:spPr>
          <a:xfrm>
            <a:off x="1828800" y="14173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KPI 2 value"/>
          <p:cNvSpPr txBox="1"/>
          <p:nvPr/>
        </p:nvSpPr>
        <p:spPr>
          <a:xfrm>
            <a:off x="1920240" y="15270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Google Sans Flex"/>
              </a:rPr>
              <a:t>22/22</a:t>
            </a:r>
          </a:p>
        </p:txBody>
      </p:sp>
      <p:sp>
        <p:nvSpPr>
          <p:cNvPr id="150" name="KPI 2 label"/>
          <p:cNvSpPr txBox="1"/>
          <p:nvPr/>
        </p:nvSpPr>
        <p:spPr>
          <a:xfrm>
            <a:off x="1920240" y="2075688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acts proved finishable</a:t>
            </a:r>
          </a:p>
        </p:txBody>
      </p:sp>
      <p:sp>
        <p:nvSpPr>
          <p:cNvPr id="151" name="KPI 3"/>
          <p:cNvSpPr/>
          <p:nvPr/>
        </p:nvSpPr>
        <p:spPr>
          <a:xfrm>
            <a:off x="3291840" y="14173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KPI 3 value"/>
          <p:cNvSpPr txBox="1"/>
          <p:nvPr/>
        </p:nvSpPr>
        <p:spPr>
          <a:xfrm>
            <a:off x="3383280" y="15270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Google Sans Flex"/>
              </a:rPr>
              <a:t>≤6%</a:t>
            </a:r>
          </a:p>
        </p:txBody>
      </p:sp>
      <p:sp>
        <p:nvSpPr>
          <p:cNvPr id="153" name="KPI 3 label"/>
          <p:cNvSpPr txBox="1"/>
          <p:nvPr/>
        </p:nvSpPr>
        <p:spPr>
          <a:xfrm>
            <a:off x="3383280" y="2075688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worst-case odds of winning by guessing</a:t>
            </a:r>
          </a:p>
        </p:txBody>
      </p:sp>
      <p:sp>
        <p:nvSpPr>
          <p:cNvPr id="154" name="KPI 4"/>
          <p:cNvSpPr/>
          <p:nvPr/>
        </p:nvSpPr>
        <p:spPr>
          <a:xfrm>
            <a:off x="365760" y="27889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KPI 4 value"/>
          <p:cNvSpPr txBox="1"/>
          <p:nvPr/>
        </p:nvSpPr>
        <p:spPr>
          <a:xfrm>
            <a:off x="457200" y="28986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Google Sans Flex"/>
              </a:rPr>
              <a:t>74</a:t>
            </a:r>
          </a:p>
        </p:txBody>
      </p:sp>
      <p:sp>
        <p:nvSpPr>
          <p:cNvPr id="156" name="KPI 4 label"/>
          <p:cNvSpPr txBox="1"/>
          <p:nvPr/>
        </p:nvSpPr>
        <p:spPr>
          <a:xfrm>
            <a:off x="457200" y="3447287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citations checked word for word against notes</a:t>
            </a:r>
          </a:p>
        </p:txBody>
      </p:sp>
      <p:sp>
        <p:nvSpPr>
          <p:cNvPr id="157" name="KPI 5"/>
          <p:cNvSpPr/>
          <p:nvPr/>
        </p:nvSpPr>
        <p:spPr>
          <a:xfrm>
            <a:off x="1828800" y="27889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KPI 5 value"/>
          <p:cNvSpPr txBox="1"/>
          <p:nvPr/>
        </p:nvSpPr>
        <p:spPr>
          <a:xfrm>
            <a:off x="1920240" y="28986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Google Sans Flex"/>
              </a:rPr>
              <a:t>3/3</a:t>
            </a:r>
          </a:p>
        </p:txBody>
      </p:sp>
      <p:sp>
        <p:nvSpPr>
          <p:cNvPr id="159" name="KPI 5 label"/>
          <p:cNvSpPr txBox="1"/>
          <p:nvPr/>
        </p:nvSpPr>
        <p:spPr>
          <a:xfrm>
            <a:off x="1920240" y="3447287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RAG acts run live: start loses, a fix wins</a:t>
            </a:r>
          </a:p>
        </p:txBody>
      </p:sp>
      <p:sp>
        <p:nvSpPr>
          <p:cNvPr id="160" name="KPI 6"/>
          <p:cNvSpPr/>
          <p:nvPr/>
        </p:nvSpPr>
        <p:spPr>
          <a:xfrm>
            <a:off x="3291840" y="27889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KPI 6 value"/>
          <p:cNvSpPr txBox="1"/>
          <p:nvPr/>
        </p:nvSpPr>
        <p:spPr>
          <a:xfrm>
            <a:off x="3383280" y="28986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Google Sans Flex"/>
              </a:rPr>
              <a:t>2.5×</a:t>
            </a:r>
          </a:p>
        </p:txBody>
      </p:sp>
      <p:sp>
        <p:nvSpPr>
          <p:cNvPr id="162" name="KPI 6 label"/>
          <p:cNvSpPr txBox="1"/>
          <p:nvPr/>
        </p:nvSpPr>
        <p:spPr>
          <a:xfrm>
            <a:off x="3383280" y="3447287"/>
            <a:ext cx="12161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faster art: 319 s → 128 s for 16 images</a:t>
            </a:r>
          </a:p>
        </p:txBody>
      </p:sp>
      <p:graphicFrame>
        <p:nvGraphicFramePr>
          <p:cNvPr id="163" name="Guess odds chart"/>
          <p:cNvGraphicFramePr>
            <a:graphicFrameLocks noGrp="1"/>
          </p:cNvGraphicFramePr>
          <p:nvPr/>
        </p:nvGraphicFramePr>
        <p:xfrm>
          <a:off x="4846320" y="1371600"/>
          <a:ext cx="3931920" cy="27432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64" name="Eval note"/>
          <p:cNvSpPr txBox="1"/>
          <p:nvPr/>
        </p:nvSpPr>
        <p:spPr>
          <a:xfrm>
            <a:off x="4846320" y="416052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F5F5F"/>
                </a:solidFill>
                <a:latin typeface="Arial"/>
              </a:rPr>
              <a:t>Our bar for every act: random play must almost always lose. Build: ~2 min per world, 13 calls. Eval run 18 Oct 2026 with live Gemini; the evidence judge is a model and is labelled as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548640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>
                <a:solidFill>
                  <a:srgbClr val="5F5F5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Next: every kind of concept, every classroom, every language</a:t>
            </a:r>
          </a:p>
        </p:txBody>
      </p:sp>
      <p:sp>
        <p:nvSpPr>
          <p:cNvPr id="153" name="Horizon 1 label"/>
          <p:cNvSpPr/>
          <p:nvPr/>
        </p:nvSpPr>
        <p:spPr>
          <a:xfrm>
            <a:off x="365760" y="1389888"/>
            <a:ext cx="2743200" cy="365760"/>
          </a:xfrm>
          <a:prstGeom prst="roundRect">
            <a:avLst>
              <a:gd name="adj" fmla="val 40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Horizon 1 label text"/>
          <p:cNvSpPr txBox="1"/>
          <p:nvPr/>
        </p:nvSpPr>
        <p:spPr>
          <a:xfrm>
            <a:off x="365760" y="13898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NEXT 4 WEEKS</a:t>
            </a:r>
          </a:p>
        </p:txBody>
      </p:sp>
      <p:sp>
        <p:nvSpPr>
          <p:cNvPr id="155" name="Horizon 1 item 1"/>
          <p:cNvSpPr/>
          <p:nvPr/>
        </p:nvSpPr>
        <p:spPr>
          <a:xfrm>
            <a:off x="365760" y="1874519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Horizon 1 icon 1"/>
          <p:cNvSpPr/>
          <p:nvPr/>
        </p:nvSpPr>
        <p:spPr>
          <a:xfrm>
            <a:off x="475488" y="2029967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FaPuzzlePiece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659" y="2122139"/>
            <a:ext cx="199704" cy="199704"/>
          </a:xfrm>
          <a:prstGeom prst="rect">
            <a:avLst/>
          </a:prstGeom>
        </p:spPr>
      </p:pic>
      <p:sp>
        <p:nvSpPr>
          <p:cNvPr id="158" name="Horizon 1 text 1"/>
          <p:cNvSpPr txBox="1"/>
          <p:nvPr/>
        </p:nvSpPr>
        <p:spPr>
          <a:xfrm>
            <a:off x="969264" y="1984248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Definitions &amp; arguments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a mechanic for the last 8% of concepts we refuse today</a:t>
            </a:r>
          </a:p>
        </p:txBody>
      </p:sp>
      <p:sp>
        <p:nvSpPr>
          <p:cNvPr id="159" name="Horizon 1 item 2"/>
          <p:cNvSpPr/>
          <p:nvPr/>
        </p:nvSpPr>
        <p:spPr>
          <a:xfrm>
            <a:off x="365760" y="2862072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Horizon 1 icon 2"/>
          <p:cNvSpPr/>
          <p:nvPr/>
        </p:nvSpPr>
        <p:spPr>
          <a:xfrm>
            <a:off x="475488" y="3017520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FaEye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659" y="3109691"/>
            <a:ext cx="199704" cy="199704"/>
          </a:xfrm>
          <a:prstGeom prst="rect">
            <a:avLst/>
          </a:prstGeom>
        </p:spPr>
      </p:pic>
      <p:sp>
        <p:nvSpPr>
          <p:cNvPr id="162" name="Horizon 1 text 2"/>
          <p:cNvSpPr txBox="1"/>
          <p:nvPr/>
        </p:nvSpPr>
        <p:spPr>
          <a:xfrm>
            <a:off x="969264" y="29718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Gemini vision art QA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every painted asset checked against what it should show</a:t>
            </a:r>
          </a:p>
        </p:txBody>
      </p:sp>
      <p:sp>
        <p:nvSpPr>
          <p:cNvPr id="163" name="Horizon 1 item 3"/>
          <p:cNvSpPr/>
          <p:nvPr/>
        </p:nvSpPr>
        <p:spPr>
          <a:xfrm>
            <a:off x="365760" y="3849624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Horizon 1 icon 3"/>
          <p:cNvSpPr/>
          <p:nvPr/>
        </p:nvSpPr>
        <p:spPr>
          <a:xfrm>
            <a:off x="475488" y="4005072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FaBolt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659" y="4097243"/>
            <a:ext cx="199704" cy="199704"/>
          </a:xfrm>
          <a:prstGeom prst="rect">
            <a:avLst/>
          </a:prstGeom>
        </p:spPr>
      </p:pic>
      <p:sp>
        <p:nvSpPr>
          <p:cNvPr id="166" name="Horizon 1 text 3"/>
          <p:cNvSpPr txBox="1"/>
          <p:nvPr/>
        </p:nvSpPr>
        <p:spPr>
          <a:xfrm>
            <a:off x="969264" y="3959352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Context caching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the chapter cached once per build: faster, cheaper</a:t>
            </a:r>
          </a:p>
        </p:txBody>
      </p:sp>
      <p:sp>
        <p:nvSpPr>
          <p:cNvPr id="167" name="Horizon 2 label"/>
          <p:cNvSpPr/>
          <p:nvPr/>
        </p:nvSpPr>
        <p:spPr>
          <a:xfrm>
            <a:off x="3200400" y="1389888"/>
            <a:ext cx="2743200" cy="365760"/>
          </a:xfrm>
          <a:prstGeom prst="roundRect">
            <a:avLst>
              <a:gd name="adj" fmla="val 40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Horizon 2 label text"/>
          <p:cNvSpPr txBox="1"/>
          <p:nvPr/>
        </p:nvSpPr>
        <p:spPr>
          <a:xfrm>
            <a:off x="3200400" y="13898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140D"/>
                </a:solidFill>
                <a:latin typeface="Arial"/>
              </a:rPr>
              <a:t>NEXT QUARTER</a:t>
            </a:r>
          </a:p>
        </p:txBody>
      </p:sp>
      <p:sp>
        <p:nvSpPr>
          <p:cNvPr id="169" name="Horizon 2 item 1"/>
          <p:cNvSpPr/>
          <p:nvPr/>
        </p:nvSpPr>
        <p:spPr>
          <a:xfrm>
            <a:off x="3200400" y="1874519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Horizon 2 icon 1"/>
          <p:cNvSpPr/>
          <p:nvPr/>
        </p:nvSpPr>
        <p:spPr>
          <a:xfrm>
            <a:off x="3310128" y="2029967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FaChalkboardUser-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2299" y="2122139"/>
            <a:ext cx="199704" cy="199704"/>
          </a:xfrm>
          <a:prstGeom prst="rect">
            <a:avLst/>
          </a:prstGeom>
        </p:spPr>
      </p:pic>
      <p:sp>
        <p:nvSpPr>
          <p:cNvPr id="172" name="Horizon 2 text 1"/>
          <p:cNvSpPr txBox="1"/>
          <p:nvPr/>
        </p:nvSpPr>
        <p:spPr>
          <a:xfrm>
            <a:off x="3803904" y="1984248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Teacher dashboard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class-wide misconception maps from real attempts</a:t>
            </a:r>
          </a:p>
        </p:txBody>
      </p:sp>
      <p:sp>
        <p:nvSpPr>
          <p:cNvPr id="173" name="Horizon 2 item 2"/>
          <p:cNvSpPr/>
          <p:nvPr/>
        </p:nvSpPr>
        <p:spPr>
          <a:xfrm>
            <a:off x="3200400" y="2862072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Horizon 2 icon 2"/>
          <p:cNvSpPr/>
          <p:nvPr/>
        </p:nvSpPr>
        <p:spPr>
          <a:xfrm>
            <a:off x="3310128" y="3017520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FaLanguage-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2299" y="3109691"/>
            <a:ext cx="199704" cy="199704"/>
          </a:xfrm>
          <a:prstGeom prst="rect">
            <a:avLst/>
          </a:prstGeom>
        </p:spPr>
      </p:pic>
      <p:sp>
        <p:nvSpPr>
          <p:cNvPr id="176" name="Horizon 2 text 2"/>
          <p:cNvSpPr txBox="1"/>
          <p:nvPr/>
        </p:nvSpPr>
        <p:spPr>
          <a:xfrm>
            <a:off x="3803904" y="29718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Indian languages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worlds written and voiced in the learner’s language</a:t>
            </a:r>
          </a:p>
        </p:txBody>
      </p:sp>
      <p:sp>
        <p:nvSpPr>
          <p:cNvPr id="177" name="Horizon 2 item 3"/>
          <p:cNvSpPr/>
          <p:nvPr/>
        </p:nvSpPr>
        <p:spPr>
          <a:xfrm>
            <a:off x="3200400" y="3849624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Horizon 2 icon 3"/>
          <p:cNvSpPr/>
          <p:nvPr/>
        </p:nvSpPr>
        <p:spPr>
          <a:xfrm>
            <a:off x="3310128" y="4005072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FaUserGraduate-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2299" y="4097243"/>
            <a:ext cx="199704" cy="199704"/>
          </a:xfrm>
          <a:prstGeom prst="rect">
            <a:avLst/>
          </a:prstGeom>
        </p:spPr>
      </p:pic>
      <p:sp>
        <p:nvSpPr>
          <p:cNvPr id="180" name="Horizon 2 text 3"/>
          <p:cNvSpPr txBox="1"/>
          <p:nvPr/>
        </p:nvSpPr>
        <p:spPr>
          <a:xfrm>
            <a:off x="3803904" y="3959352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Classroom &amp; LMS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assign a chapter, track who has played it</a:t>
            </a:r>
          </a:p>
        </p:txBody>
      </p:sp>
      <p:sp>
        <p:nvSpPr>
          <p:cNvPr id="181" name="Horizon 3 label"/>
          <p:cNvSpPr/>
          <p:nvPr/>
        </p:nvSpPr>
        <p:spPr>
          <a:xfrm>
            <a:off x="6035040" y="1389888"/>
            <a:ext cx="2743200" cy="365760"/>
          </a:xfrm>
          <a:prstGeom prst="roundRect">
            <a:avLst>
              <a:gd name="adj" fmla="val 4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Horizon 3 label text"/>
          <p:cNvSpPr txBox="1"/>
          <p:nvPr/>
        </p:nvSpPr>
        <p:spPr>
          <a:xfrm>
            <a:off x="6035040" y="13898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183" name="Horizon 3 item 1"/>
          <p:cNvSpPr/>
          <p:nvPr/>
        </p:nvSpPr>
        <p:spPr>
          <a:xfrm>
            <a:off x="6035040" y="1874519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Horizon 3 icon 1"/>
          <p:cNvSpPr/>
          <p:nvPr/>
        </p:nvSpPr>
        <p:spPr>
          <a:xfrm>
            <a:off x="6144768" y="2029967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Picture 184" descr="FaMicrophone-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6939" y="2122139"/>
            <a:ext cx="199704" cy="199704"/>
          </a:xfrm>
          <a:prstGeom prst="rect">
            <a:avLst/>
          </a:prstGeom>
        </p:spPr>
      </p:pic>
      <p:sp>
        <p:nvSpPr>
          <p:cNvPr id="186" name="Horizon 3 text 1"/>
          <p:cNvSpPr txBox="1"/>
          <p:nvPr/>
        </p:nvSpPr>
        <p:spPr>
          <a:xfrm>
            <a:off x="6638544" y="1984248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Voice characters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argue with the misconception, out loud (Gemini Live)</a:t>
            </a:r>
          </a:p>
        </p:txBody>
      </p:sp>
      <p:sp>
        <p:nvSpPr>
          <p:cNvPr id="187" name="Horizon 3 item 2"/>
          <p:cNvSpPr/>
          <p:nvPr/>
        </p:nvSpPr>
        <p:spPr>
          <a:xfrm>
            <a:off x="6035040" y="2862072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Horizon 3 icon 2"/>
          <p:cNvSpPr/>
          <p:nvPr/>
        </p:nvSpPr>
        <p:spPr>
          <a:xfrm>
            <a:off x="6144768" y="3017520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Picture 188" descr="FaBookOpen-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6939" y="3109691"/>
            <a:ext cx="199704" cy="199704"/>
          </a:xfrm>
          <a:prstGeom prst="rect">
            <a:avLst/>
          </a:prstGeom>
        </p:spPr>
      </p:pic>
      <p:sp>
        <p:nvSpPr>
          <p:cNvPr id="190" name="Horizon 3 text 2"/>
          <p:cNvSpPr txBox="1"/>
          <p:nvPr/>
        </p:nvSpPr>
        <p:spPr>
          <a:xfrm>
            <a:off x="6638544" y="29718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Publisher toolkit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any content library → verified interactive worlds</a:t>
            </a:r>
          </a:p>
        </p:txBody>
      </p:sp>
      <p:sp>
        <p:nvSpPr>
          <p:cNvPr id="191" name="Horizon 3 item 3"/>
          <p:cNvSpPr/>
          <p:nvPr/>
        </p:nvSpPr>
        <p:spPr>
          <a:xfrm>
            <a:off x="6035040" y="3849624"/>
            <a:ext cx="2743200" cy="896112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Horizon 3 icon 3"/>
          <p:cNvSpPr/>
          <p:nvPr/>
        </p:nvSpPr>
        <p:spPr>
          <a:xfrm>
            <a:off x="6144768" y="4005072"/>
            <a:ext cx="384048" cy="384048"/>
          </a:xfrm>
          <a:prstGeom prst="ellipse">
            <a:avLst/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3" name="Picture 192" descr="FaGithub-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6939" y="4097243"/>
            <a:ext cx="199704" cy="199704"/>
          </a:xfrm>
          <a:prstGeom prst="rect">
            <a:avLst/>
          </a:prstGeom>
        </p:spPr>
      </p:pic>
      <p:sp>
        <p:nvSpPr>
          <p:cNvPr id="194" name="Horizon 3 text 3"/>
          <p:cNvSpPr txBox="1"/>
          <p:nvPr/>
        </p:nvSpPr>
        <p:spPr>
          <a:xfrm>
            <a:off x="6638544" y="3959352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Open verifier</a:t>
            </a:r>
          </a:p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the checks as a standard for generated learning games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</a:t>
            </a:r>
            <a:r>
              <a:rPr b="1"/>
              <a:t>https://github.com/capsemble/akagami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</a:t>
            </a:r>
            <a:r>
              <a:rPr b="1">
                <a:highlight>
                  <a:srgbClr val="FFF176"/>
                </a:highlight>
              </a:rPr>
              <a:t>[ADD: 3-minute demo video link]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</a:t>
            </a:r>
            <a:r>
              <a:rPr b="1"/>
              <a:t>https://chapter-quest-140843079737.asia-southeast1.run.app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ry it card"/>
          <p:cNvSpPr/>
          <p:nvPr/>
        </p:nvSpPr>
        <p:spPr>
          <a:xfrm>
            <a:off x="365760" y="23317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ry it icon"/>
          <p:cNvSpPr/>
          <p:nvPr/>
        </p:nvSpPr>
        <p:spPr>
          <a:xfrm>
            <a:off x="594360" y="2542032"/>
            <a:ext cx="457200" cy="4572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2" name="Picture 161" descr="FaCirclePlay-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651760"/>
            <a:ext cx="237744" cy="237744"/>
          </a:xfrm>
          <a:prstGeom prst="rect">
            <a:avLst/>
          </a:prstGeom>
        </p:spPr>
      </p:pic>
      <p:sp>
        <p:nvSpPr>
          <p:cNvPr id="163" name="Try it title"/>
          <p:cNvSpPr txBox="1"/>
          <p:nvPr/>
        </p:nvSpPr>
        <p:spPr>
          <a:xfrm>
            <a:off x="1234440" y="254203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4ECD8"/>
                </a:solidFill>
                <a:latin typeface="Google Sans Flex"/>
              </a:rPr>
              <a:t>Try it in 60 seconds</a:t>
            </a:r>
          </a:p>
        </p:txBody>
      </p:sp>
      <p:sp>
        <p:nvSpPr>
          <p:cNvPr id="164" name="Step 1 number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1 digit"/>
          <p:cNvSpPr txBox="1"/>
          <p:nvPr/>
        </p:nvSpPr>
        <p:spPr>
          <a:xfrm>
            <a:off x="640080" y="3154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140D"/>
                </a:solidFill>
                <a:latin typeface="Arial"/>
              </a:rPr>
              <a:t>1</a:t>
            </a:r>
          </a:p>
        </p:txBody>
      </p:sp>
      <p:sp>
        <p:nvSpPr>
          <p:cNvPr id="166" name="Try step 1"/>
          <p:cNvSpPr txBox="1"/>
          <p:nvPr/>
        </p:nvSpPr>
        <p:spPr>
          <a:xfrm>
            <a:off x="1051560" y="315468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4ECD8"/>
                </a:solidFill>
                <a:latin typeface="Arial"/>
              </a:rPr>
              <a:t>Open the product link and pick “Seven Sharp at the Haveli” — a RAG chapter turned into a game.</a:t>
            </a:r>
          </a:p>
        </p:txBody>
      </p:sp>
      <p:sp>
        <p:nvSpPr>
          <p:cNvPr id="167" name="Step 2 number"/>
          <p:cNvSpPr/>
          <p:nvPr/>
        </p:nvSpPr>
        <p:spPr>
          <a:xfrm>
            <a:off x="640080" y="3557016"/>
            <a:ext cx="274320" cy="27432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2 digit"/>
          <p:cNvSpPr txBox="1"/>
          <p:nvPr/>
        </p:nvSpPr>
        <p:spPr>
          <a:xfrm>
            <a:off x="640080" y="35570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140D"/>
                </a:solidFill>
                <a:latin typeface="Arial"/>
              </a:rPr>
              <a:t>2</a:t>
            </a:r>
          </a:p>
        </p:txBody>
      </p:sp>
      <p:sp>
        <p:nvSpPr>
          <p:cNvPr id="169" name="Try step 2"/>
          <p:cNvSpPr txBox="1"/>
          <p:nvPr/>
        </p:nvSpPr>
        <p:spPr>
          <a:xfrm>
            <a:off x="1051560" y="355701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4ECD8"/>
                </a:solidFill>
                <a:latin typeface="Arial"/>
              </a:rPr>
              <a:t>Ask the Oracle with the torn 40-word chunks: the answer is right, the act still fails. Fix the chunking — it passes.</a:t>
            </a:r>
          </a:p>
        </p:txBody>
      </p:sp>
      <p:sp>
        <p:nvSpPr>
          <p:cNvPr id="170" name="Step 3 number"/>
          <p:cNvSpPr/>
          <p:nvPr/>
        </p:nvSpPr>
        <p:spPr>
          <a:xfrm>
            <a:off x="640080" y="3959352"/>
            <a:ext cx="274320" cy="27432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Step 3 digit"/>
          <p:cNvSpPr txBox="1"/>
          <p:nvPr/>
        </p:nvSpPr>
        <p:spPr>
          <a:xfrm>
            <a:off x="640080" y="3959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140D"/>
                </a:solidFill>
                <a:latin typeface="Arial"/>
              </a:rPr>
              <a:t>3</a:t>
            </a:r>
          </a:p>
        </p:txBody>
      </p:sp>
      <p:sp>
        <p:nvSpPr>
          <p:cNvPr id="172" name="Try step 3"/>
          <p:cNvSpPr txBox="1"/>
          <p:nvPr/>
        </p:nvSpPr>
        <p:spPr>
          <a:xfrm>
            <a:off x="1051560" y="3959352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4ECD8"/>
                </a:solidFill>
                <a:latin typeface="Arial"/>
              </a:rPr>
              <a:t>Open “The July Ledger”, pin the wrong document, and watch the misconception’s own character walk in.</a:t>
            </a:r>
          </a:p>
        </p:txBody>
      </p:sp>
      <p:sp>
        <p:nvSpPr>
          <p:cNvPr id="173" name="Step 4 number"/>
          <p:cNvSpPr/>
          <p:nvPr/>
        </p:nvSpPr>
        <p:spPr>
          <a:xfrm>
            <a:off x="640080" y="4361688"/>
            <a:ext cx="274320" cy="27432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Step 4 digit"/>
          <p:cNvSpPr txBox="1"/>
          <p:nvPr/>
        </p:nvSpPr>
        <p:spPr>
          <a:xfrm>
            <a:off x="640080" y="4361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140D"/>
                </a:solidFill>
                <a:latin typeface="Arial"/>
              </a:rPr>
              <a:t>4</a:t>
            </a:r>
          </a:p>
        </p:txBody>
      </p:sp>
      <p:sp>
        <p:nvSpPr>
          <p:cNvPr id="175" name="Try step 4"/>
          <p:cNvSpPr txBox="1"/>
          <p:nvPr/>
        </p:nvSpPr>
        <p:spPr>
          <a:xfrm>
            <a:off x="1051560" y="436168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4ECD8"/>
                </a:solidFill>
                <a:latin typeface="Arial"/>
              </a:rPr>
              <a:t>Or paste your own notes and watch the build verify every level live.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Kicker"/>
          <p:cNvSpPr txBox="1"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F5F5F"/>
                </a:solidFill>
                <a:latin typeface="Arial"/>
              </a:rPr>
              <a:t>HOW CHAPTER QUEST MEETS THE JUDGING CRITERIA</a:t>
            </a:r>
          </a:p>
        </p:txBody>
      </p:sp>
      <p:sp>
        <p:nvSpPr>
          <p:cNvPr id="168" name="Headline"/>
          <p:cNvSpPr txBox="1"/>
          <p:nvPr/>
        </p:nvSpPr>
        <p:spPr>
          <a:xfrm>
            <a:off x="365760" y="80467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A1A1A"/>
                </a:solidFill>
                <a:latin typeface="Google Sans Flex"/>
              </a:rPr>
              <a:t>Why finwing’s Chapter Quest deserves to win</a:t>
            </a:r>
          </a:p>
        </p:txBody>
      </p:sp>
      <p:sp>
        <p:nvSpPr>
          <p:cNvPr id="169" name="Criterion 1 card"/>
          <p:cNvSpPr/>
          <p:nvPr/>
        </p:nvSpPr>
        <p:spPr>
          <a:xfrm>
            <a:off x="365760" y="1389888"/>
            <a:ext cx="2011680" cy="34747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Criterion 1 weight"/>
          <p:cNvSpPr/>
          <p:nvPr/>
        </p:nvSpPr>
        <p:spPr>
          <a:xfrm>
            <a:off x="502920" y="1527048"/>
            <a:ext cx="749808" cy="384048"/>
          </a:xfrm>
          <a:prstGeom prst="roundRect">
            <a:avLst>
              <a:gd name="adj" fmla="val 45000"/>
            </a:avLst>
          </a:prstGeom>
          <a:solidFill>
            <a:srgbClr val="1F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Criterion 1 weight text"/>
          <p:cNvSpPr txBox="1"/>
          <p:nvPr/>
        </p:nvSpPr>
        <p:spPr>
          <a:xfrm>
            <a:off x="502920" y="1527048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ogle Sans Flex"/>
              </a:rPr>
              <a:t>40%</a:t>
            </a:r>
          </a:p>
        </p:txBody>
      </p:sp>
      <p:sp>
        <p:nvSpPr>
          <p:cNvPr id="172" name="Criterion 1 title"/>
          <p:cNvSpPr txBox="1"/>
          <p:nvPr/>
        </p:nvSpPr>
        <p:spPr>
          <a:xfrm>
            <a:off x="502920" y="20116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Technical merit &amp; Gen AI</a:t>
            </a:r>
          </a:p>
        </p:txBody>
      </p:sp>
      <p:sp>
        <p:nvSpPr>
          <p:cNvPr id="173" name="Criterion 1 points"/>
          <p:cNvSpPr txBox="1"/>
          <p:nvPr/>
        </p:nvSpPr>
        <p:spPr>
          <a:xfrm>
            <a:off x="502920" y="2487168"/>
            <a:ext cx="17830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Gemini at every stage: 5 models, structured output, tools, images, embeddings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Code is the referee: acts proved winnable, 231 tests, 8-chapter eval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Agentic: Gemini play-tests and repairs its own levels</a:t>
            </a:r>
          </a:p>
        </p:txBody>
      </p:sp>
      <p:sp>
        <p:nvSpPr>
          <p:cNvPr id="174" name="Criterion 1 proof"/>
          <p:cNvSpPr/>
          <p:nvPr/>
        </p:nvSpPr>
        <p:spPr>
          <a:xfrm>
            <a:off x="502920" y="40690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Criterion 1 proof value"/>
          <p:cNvSpPr txBox="1"/>
          <p:nvPr/>
        </p:nvSpPr>
        <p:spPr>
          <a:xfrm>
            <a:off x="594360" y="40873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Google Sans Flex"/>
              </a:rPr>
              <a:t>22/22</a:t>
            </a:r>
          </a:p>
        </p:txBody>
      </p:sp>
      <p:sp>
        <p:nvSpPr>
          <p:cNvPr id="176" name="Criterion 1 proof label"/>
          <p:cNvSpPr txBox="1"/>
          <p:nvPr/>
        </p:nvSpPr>
        <p:spPr>
          <a:xfrm>
            <a:off x="594360" y="44439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F5F5F"/>
                </a:solidFill>
                <a:latin typeface="Arial"/>
              </a:rPr>
              <a:t>acts proved finishable</a:t>
            </a:r>
          </a:p>
        </p:txBody>
      </p:sp>
      <p:sp>
        <p:nvSpPr>
          <p:cNvPr id="177" name="Criterion 2 card"/>
          <p:cNvSpPr/>
          <p:nvPr/>
        </p:nvSpPr>
        <p:spPr>
          <a:xfrm>
            <a:off x="2496312" y="1389888"/>
            <a:ext cx="2011680" cy="34747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Criterion 2 weight"/>
          <p:cNvSpPr/>
          <p:nvPr/>
        </p:nvSpPr>
        <p:spPr>
          <a:xfrm>
            <a:off x="2633472" y="1527048"/>
            <a:ext cx="749808" cy="384048"/>
          </a:xfrm>
          <a:prstGeom prst="roundRect">
            <a:avLst>
              <a:gd name="adj" fmla="val 45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Criterion 2 weight text"/>
          <p:cNvSpPr txBox="1"/>
          <p:nvPr/>
        </p:nvSpPr>
        <p:spPr>
          <a:xfrm>
            <a:off x="2633472" y="1527048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140D"/>
                </a:solidFill>
                <a:latin typeface="Google Sans Flex"/>
              </a:rPr>
              <a:t>25%</a:t>
            </a:r>
          </a:p>
        </p:txBody>
      </p:sp>
      <p:sp>
        <p:nvSpPr>
          <p:cNvPr id="180" name="Criterion 2 title"/>
          <p:cNvSpPr txBox="1"/>
          <p:nvPr/>
        </p:nvSpPr>
        <p:spPr>
          <a:xfrm>
            <a:off x="2633472" y="20116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Impact</a:t>
            </a:r>
          </a:p>
        </p:txBody>
      </p:sp>
      <p:sp>
        <p:nvSpPr>
          <p:cNvPr id="181" name="Criterion 2 points"/>
          <p:cNvSpPr txBox="1"/>
          <p:nvPr/>
        </p:nvSpPr>
        <p:spPr>
          <a:xfrm>
            <a:off x="2633472" y="2487168"/>
            <a:ext cx="17830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Any learner’s own notes become a game in ~2 minutes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Learning by doing: predict, act, see why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18+ learners, exam prep, upskilling in applied AI</a:t>
            </a:r>
          </a:p>
        </p:txBody>
      </p:sp>
      <p:sp>
        <p:nvSpPr>
          <p:cNvPr id="182" name="Criterion 2 proof"/>
          <p:cNvSpPr/>
          <p:nvPr/>
        </p:nvSpPr>
        <p:spPr>
          <a:xfrm>
            <a:off x="2633472" y="40690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Criterion 2 proof value"/>
          <p:cNvSpPr txBox="1"/>
          <p:nvPr/>
        </p:nvSpPr>
        <p:spPr>
          <a:xfrm>
            <a:off x="2724912" y="40873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Google Sans Flex"/>
              </a:rPr>
              <a:t>8/8</a:t>
            </a:r>
          </a:p>
        </p:txBody>
      </p:sp>
      <p:sp>
        <p:nvSpPr>
          <p:cNvPr id="184" name="Criterion 2 proof label"/>
          <p:cNvSpPr txBox="1"/>
          <p:nvPr/>
        </p:nvSpPr>
        <p:spPr>
          <a:xfrm>
            <a:off x="2724912" y="44439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F5F5F"/>
                </a:solidFill>
                <a:latin typeface="Arial"/>
              </a:rPr>
              <a:t>chapters became games</a:t>
            </a:r>
          </a:p>
        </p:txBody>
      </p:sp>
      <p:sp>
        <p:nvSpPr>
          <p:cNvPr id="185" name="Criterion 3 card"/>
          <p:cNvSpPr/>
          <p:nvPr/>
        </p:nvSpPr>
        <p:spPr>
          <a:xfrm>
            <a:off x="4626864" y="1389888"/>
            <a:ext cx="2011680" cy="34747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Criterion 3 weight"/>
          <p:cNvSpPr/>
          <p:nvPr/>
        </p:nvSpPr>
        <p:spPr>
          <a:xfrm>
            <a:off x="4764024" y="1527048"/>
            <a:ext cx="749808" cy="384048"/>
          </a:xfrm>
          <a:prstGeom prst="roundRect">
            <a:avLst>
              <a:gd name="adj" fmla="val 4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Criterion 3 weight text"/>
          <p:cNvSpPr txBox="1"/>
          <p:nvPr/>
        </p:nvSpPr>
        <p:spPr>
          <a:xfrm>
            <a:off x="4764024" y="1527048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ogle Sans Flex"/>
              </a:rPr>
              <a:t>25%</a:t>
            </a:r>
          </a:p>
        </p:txBody>
      </p:sp>
      <p:sp>
        <p:nvSpPr>
          <p:cNvPr id="188" name="Criterion 3 title"/>
          <p:cNvSpPr txBox="1"/>
          <p:nvPr/>
        </p:nvSpPr>
        <p:spPr>
          <a:xfrm>
            <a:off x="4764024" y="20116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Innovation</a:t>
            </a:r>
          </a:p>
        </p:txBody>
      </p:sp>
      <p:sp>
        <p:nvSpPr>
          <p:cNvPr id="189" name="Criterion 3 points"/>
          <p:cNvSpPr txBox="1"/>
          <p:nvPr/>
        </p:nvSpPr>
        <p:spPr>
          <a:xfrm>
            <a:off x="4764024" y="2487168"/>
            <a:ext cx="17830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Verified generative games, not prompt-and-hope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Misconception characters driven by your real attempts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RAG taught with live RAG over the chapter itself</a:t>
            </a:r>
          </a:p>
        </p:txBody>
      </p:sp>
      <p:sp>
        <p:nvSpPr>
          <p:cNvPr id="190" name="Criterion 3 proof"/>
          <p:cNvSpPr/>
          <p:nvPr/>
        </p:nvSpPr>
        <p:spPr>
          <a:xfrm>
            <a:off x="4764024" y="40690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Criterion 3 proof value"/>
          <p:cNvSpPr txBox="1"/>
          <p:nvPr/>
        </p:nvSpPr>
        <p:spPr>
          <a:xfrm>
            <a:off x="4855464" y="40873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Google Sans Flex"/>
              </a:rPr>
              <a:t>3/3</a:t>
            </a:r>
          </a:p>
        </p:txBody>
      </p:sp>
      <p:sp>
        <p:nvSpPr>
          <p:cNvPr id="192" name="Criterion 3 proof label"/>
          <p:cNvSpPr txBox="1"/>
          <p:nvPr/>
        </p:nvSpPr>
        <p:spPr>
          <a:xfrm>
            <a:off x="4855464" y="44439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F5F5F"/>
                </a:solidFill>
                <a:latin typeface="Arial"/>
              </a:rPr>
              <a:t>RAG acts verified live</a:t>
            </a:r>
          </a:p>
        </p:txBody>
      </p:sp>
      <p:sp>
        <p:nvSpPr>
          <p:cNvPr id="193" name="Criterion 4 card"/>
          <p:cNvSpPr/>
          <p:nvPr/>
        </p:nvSpPr>
        <p:spPr>
          <a:xfrm>
            <a:off x="6757416" y="1389888"/>
            <a:ext cx="2011680" cy="3474720"/>
          </a:xfrm>
          <a:prstGeom prst="roundRect">
            <a:avLst>
              <a:gd name="adj" fmla="val 8000"/>
            </a:avLst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Criterion 4 weight"/>
          <p:cNvSpPr/>
          <p:nvPr/>
        </p:nvSpPr>
        <p:spPr>
          <a:xfrm>
            <a:off x="6894576" y="1527048"/>
            <a:ext cx="749808" cy="384048"/>
          </a:xfrm>
          <a:prstGeom prst="roundRect">
            <a:avLst>
              <a:gd name="adj" fmla="val 45000"/>
            </a:avLst>
          </a:prstGeom>
          <a:solidFill>
            <a:srgbClr val="5F5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Criterion 4 weight text"/>
          <p:cNvSpPr txBox="1"/>
          <p:nvPr/>
        </p:nvSpPr>
        <p:spPr>
          <a:xfrm>
            <a:off x="6894576" y="1527048"/>
            <a:ext cx="7498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ogle Sans Flex"/>
              </a:rPr>
              <a:t>10%</a:t>
            </a:r>
          </a:p>
        </p:txBody>
      </p:sp>
      <p:sp>
        <p:nvSpPr>
          <p:cNvPr id="196" name="Criterion 4 title"/>
          <p:cNvSpPr txBox="1"/>
          <p:nvPr/>
        </p:nvSpPr>
        <p:spPr>
          <a:xfrm>
            <a:off x="6894576" y="20116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User experience</a:t>
            </a:r>
          </a:p>
        </p:txBody>
      </p:sp>
      <p:sp>
        <p:nvSpPr>
          <p:cNvPr id="197" name="Criterion 4 points"/>
          <p:cNvSpPr txBox="1"/>
          <p:nvPr/>
        </p:nvSpPr>
        <p:spPr>
          <a:xfrm>
            <a:off x="6894576" y="2487168"/>
            <a:ext cx="17830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Paste and play — no setup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Every verdict explains itself, quoted from your notes</a:t>
            </a:r>
          </a:p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D9A441"/>
                </a:solidFill>
                <a:latin typeface="Arial"/>
              </a:rPr>
              <a:t>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Painted worlds; drag or click to play boards</a:t>
            </a:r>
          </a:p>
        </p:txBody>
      </p:sp>
      <p:sp>
        <p:nvSpPr>
          <p:cNvPr id="198" name="Criterion 4 proof"/>
          <p:cNvSpPr/>
          <p:nvPr/>
        </p:nvSpPr>
        <p:spPr>
          <a:xfrm>
            <a:off x="6894576" y="40690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Criterion 4 proof value"/>
          <p:cNvSpPr txBox="1"/>
          <p:nvPr/>
        </p:nvSpPr>
        <p:spPr>
          <a:xfrm>
            <a:off x="6986016" y="40873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Google Sans Flex"/>
              </a:rPr>
              <a:t>~1.5 s</a:t>
            </a:r>
          </a:p>
        </p:txBody>
      </p:sp>
      <p:sp>
        <p:nvSpPr>
          <p:cNvPr id="200" name="Criterion 4 proof label"/>
          <p:cNvSpPr txBox="1"/>
          <p:nvPr/>
        </p:nvSpPr>
        <p:spPr>
          <a:xfrm>
            <a:off x="6986016" y="44439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F5F5F"/>
                </a:solidFill>
                <a:latin typeface="Arial"/>
              </a:rPr>
              <a:t>to a tailored hint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