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29.jpeg" ContentType="image/jpeg"/>
  <Override PartName="/ppt/media/image28.png" ContentType="image/png"/>
  <Override PartName="/ppt/media/image7.jpeg" ContentType="image/jpeg"/>
  <Override PartName="/ppt/media/image25.jpeg" ContentType="image/jpeg"/>
  <Override PartName="/ppt/media/image27.jpeg" ContentType="image/jpe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6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9.png" ContentType="image/png"/>
  <Override PartName="/ppt/media/image20.png" ContentType="image/png"/>
  <Override PartName="/ppt/media/image18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1.jpeg" ContentType="image/jpeg"/>
  <Override PartName="/ppt/media/image32.jpeg" ContentType="image/jpeg"/>
  <Override PartName="/ppt/media/image8.png" ContentType="image/png"/>
  <Override PartName="/ppt/media/image17.png" ContentType="image/png"/>
  <Override PartName="/ppt/media/image39.png" ContentType="image/png"/>
  <Override PartName="/ppt/media/image41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0.jpeg" ContentType="image/jpeg"/>
  <Override PartName="/ppt/media/image10.png" ContentType="image/png"/>
  <Override PartName="/ppt/media/image1.png" ContentType="image/png"/>
  <Override PartName="/ppt/media/image33.png" ContentType="image/png"/>
  <Override PartName="/ppt/media/image26.jpeg" ContentType="image/jpeg"/>
  <Override PartName="/ppt/media/image40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000" spc="-1" strike="noStrike">
                <a:solidFill>
                  <a:srgbClr val="000000"/>
                </a:solidFill>
                <a:latin typeface="Arial"/>
              </a:defRPr>
            </a:pPr>
            <a:r>
              <a:rPr b="1" sz="1000" spc="-1" strike="noStrike">
                <a:solidFill>
                  <a:srgbClr val="000000"/>
                </a:solidFill>
                <a:latin typeface="Arial"/>
              </a:rPr>
              <a:t>Odds of winning by guessing — worst act per chapter (%)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Worst-case guess odds (%)</c:v>
                </c:pt>
              </c:strCache>
            </c:strRef>
          </c:tx>
          <c:spPr>
            <a:solidFill>
              <a:srgbClr val="d9a441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Vision</c:v>
                </c:pt>
                <c:pt idx="1">
                  <c:v>Physics</c:v>
                </c:pt>
                <c:pt idx="2">
                  <c:v>Backend eng.</c:v>
                </c:pt>
                <c:pt idx="3">
                  <c:v>History</c:v>
                </c:pt>
                <c:pt idx="4">
                  <c:v>Biology</c:v>
                </c:pt>
                <c:pt idx="5">
                  <c:v>Newton</c:v>
                </c:pt>
                <c:pt idx="6">
                  <c:v>Bio notes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6</c:v>
                </c:pt>
                <c:pt idx="1">
                  <c:v>5.5</c:v>
                </c:pt>
                <c:pt idx="2">
                  <c:v>5.5</c:v>
                </c:pt>
                <c:pt idx="3">
                  <c:v>5.3</c:v>
                </c:pt>
                <c:pt idx="4">
                  <c:v>5</c:v>
                </c:pt>
                <c:pt idx="5">
                  <c:v>1.5</c:v>
                </c:pt>
                <c:pt idx="6">
                  <c:v>0.8</c:v>
                </c:pt>
              </c:numCache>
            </c:numRef>
          </c:val>
        </c:ser>
        <c:gapWidth val="60"/>
        <c:overlap val="0"/>
        <c:axId val="93283256"/>
        <c:axId val="2239563"/>
      </c:barChart>
      <c:catAx>
        <c:axId val="93283256"/>
        <c:scaling>
          <c:orientation val="maxMin"/>
        </c:scaling>
        <c:delete val="0"/>
        <c:axPos val="b"/>
        <c:numFmt formatCode="[$-409]mm/dd/yyyy" sourceLinked="0"/>
        <c:majorTickMark val="out"/>
        <c:minorTickMark val="none"/>
        <c:tickLblPos val="nextTo"/>
        <c:spPr>
          <a:ln w="9360">
            <a:solidFill>
              <a:srgbClr val="ddd8ce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2239563"/>
        <c:crosses val="autoZero"/>
        <c:auto val="1"/>
        <c:lblAlgn val="ctr"/>
        <c:lblOffset val="100"/>
        <c:noMultiLvlLbl val="0"/>
      </c:catAx>
      <c:valAx>
        <c:axId val="2239563"/>
        <c:scaling>
          <c:orientation val="minMax"/>
          <c:max val="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93283256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1B00E2-2435-4526-BFA1-05D3350315C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DC9D6E-0E59-4541-BB47-1F46D0FE40A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3706CE-73A9-4789-A700-37AACEA4C3E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7C11E09-B8B8-46D8-A4B3-D5CF6B4B02E7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E7198AB-7180-40FA-84B3-82839E4EAD1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DCD984-1D21-4F5E-B337-8D29799568A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9C6E26-4916-4580-9CFC-D889D4E477D9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DA8639-481E-4965-88B3-09A969322BE8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857AF53-20B5-44B7-91CA-FFF1C63D8D0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0462708-8C22-4E33-AD77-DCA3E0ED038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C7EB211-6CE4-4E34-BF10-AE41F5361DB1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80BE97-38C6-467F-802E-DF00AE7AC01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B6B13A-B42D-4645-94BB-B729DA5B403C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2B4DC7-F965-47E6-A425-0DCF1E5D7024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97D8FC-B2EA-4C8F-ADD5-2081E35416E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EB8F49-4D2D-4FD5-829E-53B5E6A9E292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BFB8B4-AAD4-4BF2-9A23-B11AD8C380D1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91C19-5415-4ECF-9449-A7F7A63B5B35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1F03C3-6FD1-4BD9-B9EB-4DD912F9B0AA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E08E6C-8009-4979-8413-814E86EBA263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7CD903-5F09-4CC4-A628-568A228DBC7E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15CBC5-6739-4C7E-B9D0-402DB9F6B8D7}" type="slidenum">
              <a:rPr b="0" lang="en-GB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9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6.png"/><Relationship Id="rId12" Type="http://schemas.openxmlformats.org/officeDocument/2006/relationships/image" Target="../media/image24.png"/><Relationship Id="rId1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7.jpeg"/><Relationship Id="rId6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29.jpeg"/><Relationship Id="rId4" Type="http://schemas.openxmlformats.org/officeDocument/2006/relationships/image" Target="../media/image30.jpeg"/><Relationship Id="rId5" Type="http://schemas.openxmlformats.org/officeDocument/2006/relationships/image" Target="../media/image31.jpeg"/><Relationship Id="rId6" Type="http://schemas.openxmlformats.org/officeDocument/2006/relationships/image" Target="../media/image32.jpeg"/><Relationship Id="rId7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4.png"/><Relationship Id="rId11" Type="http://schemas.openxmlformats.org/officeDocument/2006/relationships/image" Target="../media/image39.png"/><Relationship Id="rId1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hyperlink" Target="https://youtu.be/hQ37h01j54o?si=LffNu72vj9co_8sH" TargetMode="External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54;p13"/>
          <p:cNvSpPr/>
          <p:nvPr/>
        </p:nvSpPr>
        <p:spPr>
          <a:xfrm>
            <a:off x="146520" y="2902680"/>
            <a:ext cx="8759160" cy="20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2100" spc="-1" strike="noStrike">
                <a:solidFill>
                  <a:srgbClr val="000000"/>
                </a:solidFill>
                <a:latin typeface="Google Sans Flex SemiBold"/>
                <a:ea typeface="Google Sans Flex SemiBold"/>
              </a:rPr>
              <a:t>Team Details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Google Sans Flex"/>
                <a:ea typeface="Google Sans Flex"/>
              </a:rPr>
              <a:t>Team name: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Arial"/>
              </a:rPr>
              <a:t>finwing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Google Sans Flex"/>
                <a:ea typeface="Google Sans Flex"/>
              </a:rPr>
              <a:t>Team leader name: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Arial"/>
              </a:rPr>
              <a:t>Hrutik Kumthekar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Google Sans Flex"/>
              <a:buAutoNum type="alphaLcPeriod"/>
              <a:tabLst>
                <a:tab algn="l" pos="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Google Sans Flex"/>
                <a:ea typeface="Google Sans Flex"/>
              </a:rPr>
              <a:t>Problem Statement: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Arial"/>
              </a:rPr>
              <a:t>Media, Content &amp; Digital Experiences</a:t>
            </a:r>
            <a:r>
              <a:rPr b="0" lang="en-GB" sz="1400" spc="-1" strike="noStrike">
                <a:solidFill>
                  <a:srgbClr val="5f5f5f"/>
                </a:solidFill>
                <a:latin typeface="Arial"/>
                <a:ea typeface="Arial"/>
              </a:rPr>
              <a:t> — turning static learning content into playable, verified game worlds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Google Shape;55;p1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271476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56;p13" descr=""/>
          <p:cNvPicPr/>
          <p:nvPr/>
        </p:nvPicPr>
        <p:blipFill>
          <a:blip r:embed="rId2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69;p15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32" name="Google Shape;70;p15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71;p15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BRIEF ABOUT THE IDEA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Upload any chapter. Play it. Win only by using the concept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tep 1 icon"/>
          <p:cNvSpPr/>
          <p:nvPr/>
        </p:nvSpPr>
        <p:spPr>
          <a:xfrm>
            <a:off x="365760" y="1435680"/>
            <a:ext cx="474840" cy="47484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6" name="Picture 73" descr="FaBookOpen-w.png"/>
          <p:cNvPicPr/>
          <p:nvPr/>
        </p:nvPicPr>
        <p:blipFill>
          <a:blip r:embed="rId2"/>
          <a:stretch/>
        </p:blipFill>
        <p:spPr>
          <a:xfrm>
            <a:off x="479880" y="154980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37" name="Step 1"/>
          <p:cNvSpPr/>
          <p:nvPr/>
        </p:nvSpPr>
        <p:spPr>
          <a:xfrm>
            <a:off x="987480" y="1417320"/>
            <a:ext cx="324540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Upload your chapter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Notes, a textbook chapter or a PDF. Gemini pulls out the concepts, the rules and the usual misconceptions.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tep 2 icon"/>
          <p:cNvSpPr/>
          <p:nvPr/>
        </p:nvSpPr>
        <p:spPr>
          <a:xfrm>
            <a:off x="365760" y="2331720"/>
            <a:ext cx="474840" cy="47484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9" name="Picture 76" descr="FaWandMagicSparkles-w.png"/>
          <p:cNvPicPr/>
          <p:nvPr/>
        </p:nvPicPr>
        <p:blipFill>
          <a:blip r:embed="rId3"/>
          <a:stretch/>
        </p:blipFill>
        <p:spPr>
          <a:xfrm>
            <a:off x="479880" y="244584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0" name="Step 2"/>
          <p:cNvSpPr/>
          <p:nvPr/>
        </p:nvSpPr>
        <p:spPr>
          <a:xfrm>
            <a:off x="987480" y="2313360"/>
            <a:ext cx="324540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Gemini builds a world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A story RPG with a villain, a twist and one concept per act. Nano Banana paints it.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tep 3 icon"/>
          <p:cNvSpPr/>
          <p:nvPr/>
        </p:nvSpPr>
        <p:spPr>
          <a:xfrm>
            <a:off x="365760" y="3227760"/>
            <a:ext cx="474840" cy="47484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42" name="Picture 79" descr="FaGamepad-w.png"/>
          <p:cNvPicPr/>
          <p:nvPr/>
        </p:nvPicPr>
        <p:blipFill>
          <a:blip r:embed="rId4"/>
          <a:stretch/>
        </p:blipFill>
        <p:spPr>
          <a:xfrm>
            <a:off x="479880" y="3341880"/>
            <a:ext cx="246600" cy="246600"/>
          </a:xfrm>
          <a:prstGeom prst="rect">
            <a:avLst/>
          </a:prstGeom>
          <a:ln w="0">
            <a:noFill/>
          </a:ln>
        </p:spPr>
      </p:pic>
      <p:sp>
        <p:nvSpPr>
          <p:cNvPr id="43" name="Step 3"/>
          <p:cNvSpPr/>
          <p:nvPr/>
        </p:nvSpPr>
        <p:spPr>
          <a:xfrm>
            <a:off x="987480" y="3209400"/>
            <a:ext cx="324540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350" spc="-1" strike="noStrike">
                <a:solidFill>
                  <a:srgbClr val="1a1a1a"/>
                </a:solidFill>
                <a:latin typeface="Arial"/>
                <a:ea typeface="Arial"/>
              </a:rPr>
              <a:t>Win by using the idea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Drive, aim, order a process, pin evidence, tune a RAG pipeline. No multiple choice.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Hero screenshot" descr="world-haveli.jpg"/>
          <p:cNvPicPr/>
          <p:nvPr/>
        </p:nvPicPr>
        <p:blipFill>
          <a:blip r:embed="rId5"/>
          <a:srcRect l="0" t="34" r="0" b="34"/>
          <a:stretch/>
        </p:blipFill>
        <p:spPr>
          <a:xfrm>
            <a:off x="4434840" y="1389960"/>
            <a:ext cx="4342680" cy="244080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45" name="Hero caption"/>
          <p:cNvSpPr/>
          <p:nvPr/>
        </p:nvSpPr>
        <p:spPr>
          <a:xfrm>
            <a:off x="4434840" y="3877200"/>
            <a:ext cx="434268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5f5f5f"/>
                </a:solidFill>
                <a:latin typeface="Arial"/>
                <a:ea typeface="Arial"/>
              </a:rPr>
              <a:t>Seven Sharp at the Haveli: </a:t>
            </a:r>
            <a:r>
              <a:rPr b="0" lang="en-US" sz="950" spc="-1" strike="noStrike">
                <a:solidFill>
                  <a:srgbClr val="5f5f5f"/>
                </a:solidFill>
                <a:latin typeface="Arial"/>
                <a:ea typeface="Arial"/>
              </a:rPr>
              <a:t>built by Gemini from a RAG textbook chapter, played with live retrieval over that same chapter.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romise band"/>
          <p:cNvSpPr/>
          <p:nvPr/>
        </p:nvSpPr>
        <p:spPr>
          <a:xfrm>
            <a:off x="365760" y="4224600"/>
            <a:ext cx="8411760" cy="657720"/>
          </a:xfrm>
          <a:prstGeom prst="roundRect">
            <a:avLst>
              <a:gd name="adj" fmla="val 12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7" name="Promise"/>
          <p:cNvSpPr/>
          <p:nvPr/>
        </p:nvSpPr>
        <p:spPr>
          <a:xfrm>
            <a:off x="594360" y="4354920"/>
            <a:ext cx="795456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ecd8"/>
                </a:solidFill>
                <a:latin typeface="Arial"/>
                <a:ea typeface="Arial"/>
              </a:rPr>
              <a:t>Gemini writes it, Nano Banana paints it — and the game’s own code proves every level </a:t>
            </a:r>
            <a:r>
              <a:rPr b="1" lang="en-US" sz="1300" spc="-1" strike="noStrike">
                <a:solidFill>
                  <a:srgbClr val="d9a441"/>
                </a:solidFill>
                <a:latin typeface="Arial"/>
                <a:ea typeface="Arial"/>
              </a:rPr>
              <a:t>winnable, unguessable and grounded in your notes</a:t>
            </a:r>
            <a:r>
              <a:rPr b="0" lang="en-US" sz="1300" spc="-1" strike="noStrike">
                <a:solidFill>
                  <a:srgbClr val="f4ecd8"/>
                </a:solidFill>
                <a:latin typeface="Arial"/>
                <a:ea typeface="Arial"/>
              </a:rPr>
              <a:t> before you play.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76;p16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77;p1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50" name="Google Shape;78;p16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Google Shape;79;p16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SemiBold"/>
                <a:ea typeface="Google Sans Flex SemiBold"/>
              </a:rPr>
              <a:t>OPPORTUNITIES</a:t>
            </a:r>
            <a:br>
              <a:rPr sz="950"/>
            </a:b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Others skin a quiz. We make the concept the controller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" name="Table 80"/>
          <p:cNvGraphicFramePr/>
          <p:nvPr/>
        </p:nvGraphicFramePr>
        <p:xfrm>
          <a:off x="365760" y="1417320"/>
          <a:ext cx="5438880" cy="2650320"/>
        </p:xfrm>
        <a:graphic>
          <a:graphicData uri="http://schemas.openxmlformats.org/drawingml/2006/table">
            <a:tbl>
              <a:tblPr/>
              <a:tblGrid>
                <a:gridCol w="1874160"/>
                <a:gridCol w="886680"/>
                <a:gridCol w="886680"/>
                <a:gridCol w="886680"/>
                <a:gridCol w="905040"/>
              </a:tblGrid>
              <a:tr h="566640">
                <a:tc>
                  <a:txBody>
                    <a:bodyPr lIns="54720" rIns="54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Prompt-to-game tools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Notes-to-quiz apps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Quiz RPG makers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d9a441"/>
                          </a:solidFill>
                          <a:latin typeface="Arial"/>
                          <a:ea typeface="Arial"/>
                        </a:rPr>
                        <a:t>Chapter Quest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  <a:tr h="520920">
                <a:tc>
                  <a:txBody>
                    <a:bodyPr lIns="54720" rIns="54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Reads your own material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~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d9a441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  <a:tr h="520920">
                <a:tc>
                  <a:txBody>
                    <a:bodyPr lIns="54720" rIns="54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You win by using the concept, not answering MCQs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~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d9a441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  <a:tr h="520920">
                <a:tc>
                  <a:txBody>
                    <a:bodyPr lIns="54720" rIns="54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Every level proved winnable and grounded in your notes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d9a441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  <a:tr h="520920">
                <a:tc>
                  <a:txBody>
                    <a:bodyPr lIns="54720" rIns="54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Adapts to the misconception you just showed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~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c0281e"/>
                          </a:solidFill>
                          <a:latin typeface="Arial"/>
                          <a:ea typeface="Arial"/>
                        </a:rPr>
                        <a:t>✗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54720" rIns="54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d9a441"/>
                          </a:solidFill>
                          <a:latin typeface="Arial"/>
                          <a:ea typeface="Arial"/>
                        </a:rPr>
                        <a:t>✓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54720" marR="54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</a:tbl>
          </a:graphicData>
        </a:graphic>
      </p:graphicFrame>
      <p:sp>
        <p:nvSpPr>
          <p:cNvPr id="54" name="Table legend"/>
          <p:cNvSpPr/>
          <p:nvPr/>
        </p:nvSpPr>
        <p:spPr>
          <a:xfrm>
            <a:off x="365760" y="4133160"/>
            <a:ext cx="54399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✓ </a:t>
            </a: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yes   ~ partly   ✗ no — categories as we assessed them, not an endorsement by any vendor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Answer 1 card"/>
          <p:cNvSpPr/>
          <p:nvPr/>
        </p:nvSpPr>
        <p:spPr>
          <a:xfrm>
            <a:off x="6035040" y="1417320"/>
            <a:ext cx="2742480" cy="1069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6" name="Answer 1 icon"/>
          <p:cNvSpPr/>
          <p:nvPr/>
        </p:nvSpPr>
        <p:spPr>
          <a:xfrm>
            <a:off x="6172200" y="1554480"/>
            <a:ext cx="365040" cy="36504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57" name="Picture 84" descr="FaRoute-d.png"/>
          <p:cNvPicPr/>
          <p:nvPr/>
        </p:nvPicPr>
        <p:blipFill>
          <a:blip r:embed="rId3"/>
          <a:stretch/>
        </p:blipFill>
        <p:spPr>
          <a:xfrm>
            <a:off x="6260040" y="1642320"/>
            <a:ext cx="189360" cy="189360"/>
          </a:xfrm>
          <a:prstGeom prst="rect">
            <a:avLst/>
          </a:prstGeom>
          <a:ln w="0">
            <a:noFill/>
          </a:ln>
        </p:spPr>
      </p:pic>
      <p:sp>
        <p:nvSpPr>
          <p:cNvPr id="58" name="Answer 1"/>
          <p:cNvSpPr/>
          <p:nvPr/>
        </p:nvSpPr>
        <p:spPr>
          <a:xfrm>
            <a:off x="6656760" y="1536120"/>
            <a:ext cx="202932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How it solves the problem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Reading is passive. Here you predict, act, and see why — and a character who embodies your exact mistake walks in to argue it.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Answer 2 card"/>
          <p:cNvSpPr/>
          <p:nvPr/>
        </p:nvSpPr>
        <p:spPr>
          <a:xfrm>
            <a:off x="6035040" y="2578680"/>
            <a:ext cx="2742480" cy="1069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0" name="Answer 2 icon"/>
          <p:cNvSpPr/>
          <p:nvPr/>
        </p:nvSpPr>
        <p:spPr>
          <a:xfrm>
            <a:off x="6172200" y="2715840"/>
            <a:ext cx="365040" cy="36504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61" name="Picture 88" descr="FaShieldHalved-d.png"/>
          <p:cNvPicPr/>
          <p:nvPr/>
        </p:nvPicPr>
        <p:blipFill>
          <a:blip r:embed="rId4"/>
          <a:stretch/>
        </p:blipFill>
        <p:spPr>
          <a:xfrm>
            <a:off x="6260040" y="2803680"/>
            <a:ext cx="189360" cy="189360"/>
          </a:xfrm>
          <a:prstGeom prst="rect">
            <a:avLst/>
          </a:prstGeom>
          <a:ln w="0">
            <a:noFill/>
          </a:ln>
        </p:spPr>
      </p:pic>
      <p:sp>
        <p:nvSpPr>
          <p:cNvPr id="62" name="Answer 2"/>
          <p:cNvSpPr/>
          <p:nvPr/>
        </p:nvSpPr>
        <p:spPr>
          <a:xfrm>
            <a:off x="6656760" y="2697480"/>
            <a:ext cx="2029320" cy="8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USP: verified before you play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Every act is proved winnable; guessing wins ≤6%; every rule is quoted word for word from your notes; Gemini play-tests its own levels.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Answer 3 card"/>
          <p:cNvSpPr/>
          <p:nvPr/>
        </p:nvSpPr>
        <p:spPr>
          <a:xfrm>
            <a:off x="6035040" y="3740040"/>
            <a:ext cx="2742480" cy="1069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4" name="Answer 3 icon"/>
          <p:cNvSpPr/>
          <p:nvPr/>
        </p:nvSpPr>
        <p:spPr>
          <a:xfrm>
            <a:off x="6172200" y="3877200"/>
            <a:ext cx="365040" cy="36504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65" name="Picture 92" descr="FaTrophy-d.png"/>
          <p:cNvPicPr/>
          <p:nvPr/>
        </p:nvPicPr>
        <p:blipFill>
          <a:blip r:embed="rId5"/>
          <a:stretch/>
        </p:blipFill>
        <p:spPr>
          <a:xfrm>
            <a:off x="6260040" y="3964680"/>
            <a:ext cx="189360" cy="189360"/>
          </a:xfrm>
          <a:prstGeom prst="rect">
            <a:avLst/>
          </a:prstGeom>
          <a:ln w="0">
            <a:noFill/>
          </a:ln>
        </p:spPr>
      </p:pic>
      <p:sp>
        <p:nvSpPr>
          <p:cNvPr id="66" name="Answer 3"/>
          <p:cNvSpPr/>
          <p:nvPr/>
        </p:nvSpPr>
        <p:spPr>
          <a:xfrm>
            <a:off x="6656760" y="3858840"/>
            <a:ext cx="202932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The opportunity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Every learner already has the content. We turn it into an interactive digital experience in about two minutes.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7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68" name="Google Shape;85;p17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69" name="Google Shape;86;p17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87;p17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LIST OF FEATURES OFFERED BY THE SOLUTION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Four ways to play, every level verified before you play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Feature 1 card"/>
          <p:cNvSpPr/>
          <p:nvPr/>
        </p:nvSpPr>
        <p:spPr>
          <a:xfrm>
            <a:off x="365760" y="138996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3" name="Feature 1 icon"/>
          <p:cNvSpPr/>
          <p:nvPr/>
        </p:nvSpPr>
        <p:spPr>
          <a:xfrm>
            <a:off x="502920" y="1527120"/>
            <a:ext cx="419760" cy="41976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74" name="Picture 90" descr="FaFlask-w.png"/>
          <p:cNvPicPr/>
          <p:nvPr/>
        </p:nvPicPr>
        <p:blipFill>
          <a:blip r:embed="rId3"/>
          <a:stretch/>
        </p:blipFill>
        <p:spPr>
          <a:xfrm>
            <a:off x="603720" y="162792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75" name="Feature 1"/>
          <p:cNvSpPr/>
          <p:nvPr/>
        </p:nvSpPr>
        <p:spPr>
          <a:xfrm>
            <a:off x="502920" y="2030040"/>
            <a:ext cx="175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Formula worlds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Drive a train, aim a launch, balance a beam. A real simulator decides, never the AI.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Feature 2 card"/>
          <p:cNvSpPr/>
          <p:nvPr/>
        </p:nvSpPr>
        <p:spPr>
          <a:xfrm>
            <a:off x="2496240" y="138996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7" name="Feature 2 icon"/>
          <p:cNvSpPr/>
          <p:nvPr/>
        </p:nvSpPr>
        <p:spPr>
          <a:xfrm>
            <a:off x="2633400" y="1527120"/>
            <a:ext cx="419760" cy="41976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78" name="Picture 94" descr="FaListOl-w.png"/>
          <p:cNvPicPr/>
          <p:nvPr/>
        </p:nvPicPr>
        <p:blipFill>
          <a:blip r:embed="rId4"/>
          <a:stretch/>
        </p:blipFill>
        <p:spPr>
          <a:xfrm>
            <a:off x="2734560" y="162792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79" name="Feature 2"/>
          <p:cNvSpPr/>
          <p:nvPr/>
        </p:nvSpPr>
        <p:spPr>
          <a:xfrm>
            <a:off x="2633400" y="2030040"/>
            <a:ext cx="175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Sequence boards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Order a process or a causal chain. A broken link explains why, quoted from your notes.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Feature 3 card"/>
          <p:cNvSpPr/>
          <p:nvPr/>
        </p:nvSpPr>
        <p:spPr>
          <a:xfrm>
            <a:off x="4626720" y="138996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1" name="Feature 3 icon"/>
          <p:cNvSpPr/>
          <p:nvPr/>
        </p:nvSpPr>
        <p:spPr>
          <a:xfrm>
            <a:off x="4763880" y="1527120"/>
            <a:ext cx="419760" cy="41976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82" name="Picture 98" descr="FaScaleBalanced-w.png"/>
          <p:cNvPicPr/>
          <p:nvPr/>
        </p:nvPicPr>
        <p:blipFill>
          <a:blip r:embed="rId5"/>
          <a:stretch/>
        </p:blipFill>
        <p:spPr>
          <a:xfrm>
            <a:off x="4865040" y="162792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83" name="Feature 3"/>
          <p:cNvSpPr/>
          <p:nvPr/>
        </p:nvSpPr>
        <p:spPr>
          <a:xfrm>
            <a:off x="4763880" y="2030040"/>
            <a:ext cx="175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Evidence boards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Pin each document to the claim it proves. Decoys explain what they really show.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Feature 4 card"/>
          <p:cNvSpPr/>
          <p:nvPr/>
        </p:nvSpPr>
        <p:spPr>
          <a:xfrm>
            <a:off x="6757560" y="138996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5" name="Feature 4 icon"/>
          <p:cNvSpPr/>
          <p:nvPr/>
        </p:nvSpPr>
        <p:spPr>
          <a:xfrm>
            <a:off x="6894720" y="1527120"/>
            <a:ext cx="419760" cy="41976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86" name="Picture 102" descr="FaMagnifyingGlass-w.png"/>
          <p:cNvPicPr/>
          <p:nvPr/>
        </p:nvPicPr>
        <p:blipFill>
          <a:blip r:embed="rId6"/>
          <a:stretch/>
        </p:blipFill>
        <p:spPr>
          <a:xfrm>
            <a:off x="6995520" y="162792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87" name="Feature 4"/>
          <p:cNvSpPr/>
          <p:nvPr/>
        </p:nvSpPr>
        <p:spPr>
          <a:xfrm>
            <a:off x="6894720" y="2030040"/>
            <a:ext cx="17550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Live RAG worlds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Tune chunking, top-k and grounding over your own chapter, with Gemini embeddings.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Feature 5 card"/>
          <p:cNvSpPr/>
          <p:nvPr/>
        </p:nvSpPr>
        <p:spPr>
          <a:xfrm>
            <a:off x="365760" y="315468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9" name="Feature 5 icon"/>
          <p:cNvSpPr/>
          <p:nvPr/>
        </p:nvSpPr>
        <p:spPr>
          <a:xfrm>
            <a:off x="502920" y="3291840"/>
            <a:ext cx="419760" cy="419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90" name="Picture 106" descr="FaShieldHalved-d.png"/>
          <p:cNvPicPr/>
          <p:nvPr/>
        </p:nvPicPr>
        <p:blipFill>
          <a:blip r:embed="rId7"/>
          <a:stretch/>
        </p:blipFill>
        <p:spPr>
          <a:xfrm>
            <a:off x="603720" y="339264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91" name="Feature 5"/>
          <p:cNvSpPr/>
          <p:nvPr/>
        </p:nvSpPr>
        <p:spPr>
          <a:xfrm>
            <a:off x="502920" y="3794760"/>
            <a:ext cx="175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The ✓ verified card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See what was proved: start loses, a win exists, guess odds, every citation.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Feature 6 card"/>
          <p:cNvSpPr/>
          <p:nvPr/>
        </p:nvSpPr>
        <p:spPr>
          <a:xfrm>
            <a:off x="2496240" y="315468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3" name="Feature 6 icon"/>
          <p:cNvSpPr/>
          <p:nvPr/>
        </p:nvSpPr>
        <p:spPr>
          <a:xfrm>
            <a:off x="2633400" y="3291840"/>
            <a:ext cx="419760" cy="419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94" name="Picture 110" descr="FaMasksTheater-d.png"/>
          <p:cNvPicPr/>
          <p:nvPr/>
        </p:nvPicPr>
        <p:blipFill>
          <a:blip r:embed="rId8"/>
          <a:stretch/>
        </p:blipFill>
        <p:spPr>
          <a:xfrm>
            <a:off x="2734560" y="339264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95" name="Feature 6"/>
          <p:cNvSpPr/>
          <p:nvPr/>
        </p:nvSpPr>
        <p:spPr>
          <a:xfrm>
            <a:off x="2633400" y="3794760"/>
            <a:ext cx="1755000" cy="7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Misconception characters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Miss, and the character who embodies your wrong idea walks in. Reply in ~1.5 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Feature 7 card"/>
          <p:cNvSpPr/>
          <p:nvPr/>
        </p:nvSpPr>
        <p:spPr>
          <a:xfrm>
            <a:off x="4626720" y="315468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7" name="Feature 7 icon"/>
          <p:cNvSpPr/>
          <p:nvPr/>
        </p:nvSpPr>
        <p:spPr>
          <a:xfrm>
            <a:off x="4763880" y="3291840"/>
            <a:ext cx="419760" cy="419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98" name="Picture 114" descr="FaLightbulb-d.png"/>
          <p:cNvPicPr/>
          <p:nvPr/>
        </p:nvPicPr>
        <p:blipFill>
          <a:blip r:embed="rId9"/>
          <a:stretch/>
        </p:blipFill>
        <p:spPr>
          <a:xfrm>
            <a:off x="4865040" y="339264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99" name="Feature 7"/>
          <p:cNvSpPr/>
          <p:nvPr/>
        </p:nvSpPr>
        <p:spPr>
          <a:xfrm>
            <a:off x="4763880" y="3794760"/>
            <a:ext cx="175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Predict, then compare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Commit to a guess first; after the win, see it against reality — and where the analogy breaks.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Feature 8 card"/>
          <p:cNvSpPr/>
          <p:nvPr/>
        </p:nvSpPr>
        <p:spPr>
          <a:xfrm>
            <a:off x="6757560" y="3154680"/>
            <a:ext cx="2010960" cy="164520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1" name="Feature 8 icon"/>
          <p:cNvSpPr/>
          <p:nvPr/>
        </p:nvSpPr>
        <p:spPr>
          <a:xfrm>
            <a:off x="6894720" y="3291840"/>
            <a:ext cx="419760" cy="41976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02" name="Picture 118" descr="FaPaintbrush-d.png"/>
          <p:cNvPicPr/>
          <p:nvPr/>
        </p:nvPicPr>
        <p:blipFill>
          <a:blip r:embed="rId10"/>
          <a:stretch/>
        </p:blipFill>
        <p:spPr>
          <a:xfrm>
            <a:off x="6995520" y="3392640"/>
            <a:ext cx="218160" cy="218160"/>
          </a:xfrm>
          <a:prstGeom prst="rect">
            <a:avLst/>
          </a:prstGeom>
          <a:ln w="0">
            <a:noFill/>
          </a:ln>
        </p:spPr>
      </p:pic>
      <p:sp>
        <p:nvSpPr>
          <p:cNvPr id="103" name="Feature 8"/>
          <p:cNvSpPr/>
          <p:nvPr/>
        </p:nvSpPr>
        <p:spPr>
          <a:xfrm>
            <a:off x="6894720" y="3794760"/>
            <a:ext cx="175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rgbClr val="1a1a1a"/>
                </a:solidFill>
                <a:latin typeface="Arial"/>
                <a:ea typeface="Arial"/>
              </a:rPr>
              <a:t>Painted worlds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Nano Banana paints the cast, props and rooms in one consistent style.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92;p18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105" name="Google Shape;93;p18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106" name="Google Shape;94;p18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95;p18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PROCESS FLOW DIAGRAM OR USE-CASE DIAGRAM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Chapter to verified game in ~2 minutes, then it adapts to you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Build lane label"/>
          <p:cNvSpPr/>
          <p:nvPr/>
        </p:nvSpPr>
        <p:spPr>
          <a:xfrm>
            <a:off x="365760" y="1325880"/>
            <a:ext cx="841176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d9a441"/>
                </a:solidFill>
                <a:latin typeface="Arial"/>
                <a:ea typeface="Arial"/>
              </a:rPr>
              <a:t>BUILD</a:t>
            </a:r>
            <a:r>
              <a:rPr b="0" lang="en-US" sz="950" spc="-1" strike="noStrike">
                <a:solidFill>
                  <a:srgbClr val="5f5f5f"/>
                </a:solidFill>
                <a:latin typeface="Arial"/>
                <a:ea typeface="Arial"/>
              </a:rPr>
              <a:t>  once per chapter, ~2 min, cached forever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Build 1"/>
          <p:cNvSpPr/>
          <p:nvPr/>
        </p:nvSpPr>
        <p:spPr>
          <a:xfrm>
            <a:off x="365760" y="160020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1" name="Build 1 icon"/>
          <p:cNvSpPr/>
          <p:nvPr/>
        </p:nvSpPr>
        <p:spPr>
          <a:xfrm>
            <a:off x="457200" y="169164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12" name="Picture 99" descr="FaBookOpen-w.png"/>
          <p:cNvPicPr/>
          <p:nvPr/>
        </p:nvPicPr>
        <p:blipFill>
          <a:blip r:embed="rId3"/>
          <a:stretch/>
        </p:blipFill>
        <p:spPr>
          <a:xfrm>
            <a:off x="531720" y="176616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13" name="Build 1 text"/>
          <p:cNvSpPr/>
          <p:nvPr/>
        </p:nvSpPr>
        <p:spPr>
          <a:xfrm>
            <a:off x="457200" y="2048400"/>
            <a:ext cx="107820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Your chapter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notes, textbook, PDF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ight Arrow 101"/>
          <p:cNvSpPr/>
          <p:nvPr/>
        </p:nvSpPr>
        <p:spPr>
          <a:xfrm>
            <a:off x="1627560" y="205740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5" name="Build 2"/>
          <p:cNvSpPr/>
          <p:nvPr/>
        </p:nvSpPr>
        <p:spPr>
          <a:xfrm>
            <a:off x="1799640" y="160020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16" name="Build 2 icon"/>
          <p:cNvSpPr/>
          <p:nvPr/>
        </p:nvSpPr>
        <p:spPr>
          <a:xfrm>
            <a:off x="1891080" y="169164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17" name="Picture 104" descr="FaBrain-w.png"/>
          <p:cNvPicPr/>
          <p:nvPr/>
        </p:nvPicPr>
        <p:blipFill>
          <a:blip r:embed="rId4"/>
          <a:stretch/>
        </p:blipFill>
        <p:spPr>
          <a:xfrm>
            <a:off x="1965600" y="176616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18" name="Build 2 text"/>
          <p:cNvSpPr/>
          <p:nvPr/>
        </p:nvSpPr>
        <p:spPr>
          <a:xfrm>
            <a:off x="1891080" y="2048400"/>
            <a:ext cx="107820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Curriculum agent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concepts and misconceptions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ight Arrow 106"/>
          <p:cNvSpPr/>
          <p:nvPr/>
        </p:nvSpPr>
        <p:spPr>
          <a:xfrm>
            <a:off x="3061440" y="205740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20" name="Build 3"/>
          <p:cNvSpPr/>
          <p:nvPr/>
        </p:nvSpPr>
        <p:spPr>
          <a:xfrm>
            <a:off x="3233160" y="160020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21" name="Build 3 icon"/>
          <p:cNvSpPr/>
          <p:nvPr/>
        </p:nvSpPr>
        <p:spPr>
          <a:xfrm>
            <a:off x="3324600" y="169164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22" name="Picture 109" descr="FaWandMagicSparkles-w.png"/>
          <p:cNvPicPr/>
          <p:nvPr/>
        </p:nvPicPr>
        <p:blipFill>
          <a:blip r:embed="rId5"/>
          <a:stretch/>
        </p:blipFill>
        <p:spPr>
          <a:xfrm>
            <a:off x="3399480" y="176616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23" name="Build 3 text"/>
          <p:cNvSpPr/>
          <p:nvPr/>
        </p:nvSpPr>
        <p:spPr>
          <a:xfrm>
            <a:off x="3324600" y="2048400"/>
            <a:ext cx="1078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Writers’ room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2 film-genre drafts, a judge picks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ight Arrow 111"/>
          <p:cNvSpPr/>
          <p:nvPr/>
        </p:nvSpPr>
        <p:spPr>
          <a:xfrm>
            <a:off x="4495320" y="205740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25" name="Build 4"/>
          <p:cNvSpPr/>
          <p:nvPr/>
        </p:nvSpPr>
        <p:spPr>
          <a:xfrm>
            <a:off x="4667040" y="160020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26" name="Build 4 icon"/>
          <p:cNvSpPr/>
          <p:nvPr/>
        </p:nvSpPr>
        <p:spPr>
          <a:xfrm>
            <a:off x="4758480" y="169164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27" name="Picture 114" descr="FaPuzzlePiece-w.png"/>
          <p:cNvPicPr/>
          <p:nvPr/>
        </p:nvPicPr>
        <p:blipFill>
          <a:blip r:embed="rId6"/>
          <a:stretch/>
        </p:blipFill>
        <p:spPr>
          <a:xfrm>
            <a:off x="4833000" y="176616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28" name="Build 4 text"/>
          <p:cNvSpPr/>
          <p:nvPr/>
        </p:nvSpPr>
        <p:spPr>
          <a:xfrm>
            <a:off x="4758480" y="2048400"/>
            <a:ext cx="1078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Act writers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levels as structured JSON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ight Arrow 116"/>
          <p:cNvSpPr/>
          <p:nvPr/>
        </p:nvSpPr>
        <p:spPr>
          <a:xfrm>
            <a:off x="5928840" y="205740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0" name="Build 5"/>
          <p:cNvSpPr/>
          <p:nvPr/>
        </p:nvSpPr>
        <p:spPr>
          <a:xfrm>
            <a:off x="6100920" y="160020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1f140d"/>
          </a:solidFill>
          <a:ln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1" name="Build 5 icon"/>
          <p:cNvSpPr/>
          <p:nvPr/>
        </p:nvSpPr>
        <p:spPr>
          <a:xfrm>
            <a:off x="6192360" y="1691640"/>
            <a:ext cx="310320" cy="310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32" name="Picture 119" descr="FaShieldHalved-w.png"/>
          <p:cNvPicPr/>
          <p:nvPr/>
        </p:nvPicPr>
        <p:blipFill>
          <a:blip r:embed="rId7"/>
          <a:stretch/>
        </p:blipFill>
        <p:spPr>
          <a:xfrm>
            <a:off x="6266880" y="176616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33" name="Build 5 text"/>
          <p:cNvSpPr/>
          <p:nvPr/>
        </p:nvSpPr>
        <p:spPr>
          <a:xfrm>
            <a:off x="6192360" y="2048400"/>
            <a:ext cx="107820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f4ecd8"/>
                </a:solidFill>
                <a:latin typeface="Arial"/>
                <a:ea typeface="Arial"/>
              </a:rPr>
              <a:t>Verify gate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simulator · citations · evidence judge · live RAG run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ight Arrow 121"/>
          <p:cNvSpPr/>
          <p:nvPr/>
        </p:nvSpPr>
        <p:spPr>
          <a:xfrm>
            <a:off x="7362720" y="205740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5" name="Build 6"/>
          <p:cNvSpPr/>
          <p:nvPr/>
        </p:nvSpPr>
        <p:spPr>
          <a:xfrm>
            <a:off x="7534800" y="160020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36" name="Build 6 icon"/>
          <p:cNvSpPr/>
          <p:nvPr/>
        </p:nvSpPr>
        <p:spPr>
          <a:xfrm>
            <a:off x="7626240" y="169164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37" name="Picture 124" descr="FaPaintbrush-w.png"/>
          <p:cNvPicPr/>
          <p:nvPr/>
        </p:nvPicPr>
        <p:blipFill>
          <a:blip r:embed="rId8"/>
          <a:stretch/>
        </p:blipFill>
        <p:spPr>
          <a:xfrm>
            <a:off x="7700760" y="176616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38" name="Build 6 text"/>
          <p:cNvSpPr/>
          <p:nvPr/>
        </p:nvSpPr>
        <p:spPr>
          <a:xfrm>
            <a:off x="7626240" y="2048400"/>
            <a:ext cx="1078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Nano Banana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cast, props and rooms painted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Down Arrow 126"/>
          <p:cNvSpPr/>
          <p:nvPr/>
        </p:nvSpPr>
        <p:spPr>
          <a:xfrm>
            <a:off x="6631200" y="2770560"/>
            <a:ext cx="182160" cy="163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0" name="Play-tester pill"/>
          <p:cNvSpPr/>
          <p:nvPr/>
        </p:nvSpPr>
        <p:spPr>
          <a:xfrm>
            <a:off x="5533920" y="2962800"/>
            <a:ext cx="2376720" cy="346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1" name="Play-tester icon"/>
          <p:cNvSpPr/>
          <p:nvPr/>
        </p:nvSpPr>
        <p:spPr>
          <a:xfrm>
            <a:off x="5588640" y="2990160"/>
            <a:ext cx="291960" cy="291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42" name="Picture 129" descr="FaRobot-w.png"/>
          <p:cNvPicPr/>
          <p:nvPr/>
        </p:nvPicPr>
        <p:blipFill>
          <a:blip r:embed="rId9"/>
          <a:stretch/>
        </p:blipFill>
        <p:spPr>
          <a:xfrm>
            <a:off x="5659200" y="3060360"/>
            <a:ext cx="151560" cy="151560"/>
          </a:xfrm>
          <a:prstGeom prst="rect">
            <a:avLst/>
          </a:prstGeom>
          <a:ln w="0">
            <a:noFill/>
          </a:ln>
        </p:spPr>
      </p:pic>
      <p:sp>
        <p:nvSpPr>
          <p:cNvPr id="143" name="Play-tester text"/>
          <p:cNvSpPr/>
          <p:nvPr/>
        </p:nvSpPr>
        <p:spPr>
          <a:xfrm>
            <a:off x="5936400" y="3006360"/>
            <a:ext cx="19285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2e7d32"/>
                </a:solidFill>
                <a:latin typeface="Arial"/>
                <a:ea typeface="Arial"/>
              </a:rPr>
              <a:t>Fails? </a:t>
            </a: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Gemini play-tests and fixes it with tools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y lane label"/>
          <p:cNvSpPr/>
          <p:nvPr/>
        </p:nvSpPr>
        <p:spPr>
          <a:xfrm>
            <a:off x="365760" y="3310200"/>
            <a:ext cx="841176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d9a441"/>
                </a:solidFill>
                <a:latin typeface="Arial"/>
                <a:ea typeface="Arial"/>
              </a:rPr>
              <a:t>PLAY</a:t>
            </a:r>
            <a:r>
              <a:rPr b="0" lang="en-US" sz="950" spc="-1" strike="noStrike">
                <a:solidFill>
                  <a:srgbClr val="5f5f5f"/>
                </a:solidFill>
                <a:latin typeface="Arial"/>
                <a:ea typeface="Arial"/>
              </a:rPr>
              <a:t>  every attempt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y 1"/>
          <p:cNvSpPr/>
          <p:nvPr/>
        </p:nvSpPr>
        <p:spPr>
          <a:xfrm>
            <a:off x="365760" y="358452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46" name="Play 1 icon"/>
          <p:cNvSpPr/>
          <p:nvPr/>
        </p:nvSpPr>
        <p:spPr>
          <a:xfrm>
            <a:off x="457200" y="367596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47" name="Picture 134" descr="FaLightbulb-w.png"/>
          <p:cNvPicPr/>
          <p:nvPr/>
        </p:nvPicPr>
        <p:blipFill>
          <a:blip r:embed="rId10"/>
          <a:stretch/>
        </p:blipFill>
        <p:spPr>
          <a:xfrm>
            <a:off x="531720" y="375048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48" name="Play 1 text"/>
          <p:cNvSpPr/>
          <p:nvPr/>
        </p:nvSpPr>
        <p:spPr>
          <a:xfrm>
            <a:off x="457200" y="4032360"/>
            <a:ext cx="107820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Predict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commit to a guess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ight Arrow 136"/>
          <p:cNvSpPr/>
          <p:nvPr/>
        </p:nvSpPr>
        <p:spPr>
          <a:xfrm>
            <a:off x="1627560" y="404172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0" name="Play 2"/>
          <p:cNvSpPr/>
          <p:nvPr/>
        </p:nvSpPr>
        <p:spPr>
          <a:xfrm>
            <a:off x="1799640" y="358452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1" name="Play 2 icon"/>
          <p:cNvSpPr/>
          <p:nvPr/>
        </p:nvSpPr>
        <p:spPr>
          <a:xfrm>
            <a:off x="1891080" y="367596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52" name="Picture 139" descr="FaGamepad-w.png"/>
          <p:cNvPicPr/>
          <p:nvPr/>
        </p:nvPicPr>
        <p:blipFill>
          <a:blip r:embed="rId11"/>
          <a:stretch/>
        </p:blipFill>
        <p:spPr>
          <a:xfrm>
            <a:off x="1965600" y="375048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53" name="Play 2 text"/>
          <p:cNvSpPr/>
          <p:nvPr/>
        </p:nvSpPr>
        <p:spPr>
          <a:xfrm>
            <a:off x="1891080" y="4032360"/>
            <a:ext cx="107820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Act in the world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dials, boards, satchel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ight Arrow 141"/>
          <p:cNvSpPr/>
          <p:nvPr/>
        </p:nvSpPr>
        <p:spPr>
          <a:xfrm>
            <a:off x="3061440" y="404172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5" name="Play 3"/>
          <p:cNvSpPr/>
          <p:nvPr/>
        </p:nvSpPr>
        <p:spPr>
          <a:xfrm>
            <a:off x="3233160" y="3584520"/>
            <a:ext cx="1242720" cy="114228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6" name="Play 3 icon"/>
          <p:cNvSpPr/>
          <p:nvPr/>
        </p:nvSpPr>
        <p:spPr>
          <a:xfrm>
            <a:off x="3324600" y="3675960"/>
            <a:ext cx="310320" cy="31032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57" name="Picture 144" descr="FaCircleCheck-w.png"/>
          <p:cNvPicPr/>
          <p:nvPr/>
        </p:nvPicPr>
        <p:blipFill>
          <a:blip r:embed="rId12"/>
          <a:stretch/>
        </p:blipFill>
        <p:spPr>
          <a:xfrm>
            <a:off x="3399480" y="3750480"/>
            <a:ext cx="160920" cy="160920"/>
          </a:xfrm>
          <a:prstGeom prst="rect">
            <a:avLst/>
          </a:prstGeom>
          <a:ln w="0">
            <a:noFill/>
          </a:ln>
        </p:spPr>
      </p:pic>
      <p:sp>
        <p:nvSpPr>
          <p:cNvPr id="158" name="Play 3 text"/>
          <p:cNvSpPr/>
          <p:nvPr/>
        </p:nvSpPr>
        <p:spPr>
          <a:xfrm>
            <a:off x="3324600" y="4032360"/>
            <a:ext cx="1078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Arial"/>
              </a:rPr>
              <a:t>Code decides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deterministic verdict, no AI opinion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ight Arrow 146"/>
          <p:cNvSpPr/>
          <p:nvPr/>
        </p:nvSpPr>
        <p:spPr>
          <a:xfrm>
            <a:off x="4495320" y="4041720"/>
            <a:ext cx="154800" cy="200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0" name="Win outcome"/>
          <p:cNvSpPr/>
          <p:nvPr/>
        </p:nvSpPr>
        <p:spPr>
          <a:xfrm>
            <a:off x="4667040" y="3584520"/>
            <a:ext cx="2696760" cy="52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e7d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1" name="Win text"/>
          <p:cNvSpPr/>
          <p:nvPr/>
        </p:nvSpPr>
        <p:spPr>
          <a:xfrm>
            <a:off x="4776840" y="3719520"/>
            <a:ext cx="2513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2e7d32"/>
                </a:solidFill>
                <a:latin typeface="Arial"/>
                <a:ea typeface="Arial"/>
              </a:rPr>
              <a:t>Win → </a:t>
            </a: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insight card (your guess vs reality, where the analogy breaks) → gate opens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Miss outcome"/>
          <p:cNvSpPr/>
          <p:nvPr/>
        </p:nvSpPr>
        <p:spPr>
          <a:xfrm>
            <a:off x="4667040" y="4197240"/>
            <a:ext cx="2696760" cy="52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028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63" name="Miss text"/>
          <p:cNvSpPr/>
          <p:nvPr/>
        </p:nvSpPr>
        <p:spPr>
          <a:xfrm>
            <a:off x="4776840" y="4332240"/>
            <a:ext cx="2513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c0281e"/>
                </a:solidFill>
                <a:latin typeface="Arial"/>
                <a:ea typeface="Arial"/>
              </a:rPr>
              <a:t>Miss → </a:t>
            </a: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Gemini names your misconception; its character walks in; try again ↺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feree note"/>
          <p:cNvSpPr/>
          <p:nvPr/>
        </p:nvSpPr>
        <p:spPr>
          <a:xfrm>
            <a:off x="7455960" y="3584520"/>
            <a:ext cx="109656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Every verdict comes from the game’s code; Gemini explains, never judges a win.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00;p19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166" name="Google Shape;101;p19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167" name="Google Shape;102;p19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103;p19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WIREFRAMES/MOCK DIAGRAMS OF THE PROPOSED SOLUTION 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Not mock-ups: real screens from the running prototype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Screen 1" descr="start.jpg"/>
          <p:cNvPicPr/>
          <p:nvPr/>
        </p:nvPicPr>
        <p:blipFill>
          <a:blip r:embed="rId3"/>
          <a:srcRect l="20391" t="0" r="20391" b="0"/>
          <a:stretch/>
        </p:blipFill>
        <p:spPr>
          <a:xfrm>
            <a:off x="365760" y="1371600"/>
            <a:ext cx="2742480" cy="2605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171" name="Screen 1 caption"/>
          <p:cNvSpPr/>
          <p:nvPr/>
        </p:nvSpPr>
        <p:spPr>
          <a:xfrm>
            <a:off x="365760" y="4069080"/>
            <a:ext cx="27424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1. Paste or pick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Arial"/>
                <a:ea typeface="Arial"/>
              </a:rPr>
              <a:t>Drop in a chapter, or open a world we built: RAG, chemistry, history.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Screen 2" descr="title-haveli.jpg"/>
          <p:cNvPicPr/>
          <p:nvPr/>
        </p:nvPicPr>
        <p:blipFill>
          <a:blip r:embed="rId4"/>
          <a:srcRect l="20391" t="0" r="20391" b="0"/>
          <a:stretch/>
        </p:blipFill>
        <p:spPr>
          <a:xfrm>
            <a:off x="3200400" y="1371600"/>
            <a:ext cx="2742480" cy="2605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173" name="Screen 2 caption"/>
          <p:cNvSpPr/>
          <p:nvPr/>
        </p:nvSpPr>
        <p:spPr>
          <a:xfrm>
            <a:off x="3200400" y="4069080"/>
            <a:ext cx="27424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2. A world, not a worksheet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Arial"/>
                <a:ea typeface="Arial"/>
              </a:rPr>
              <a:t>Every chapter gets a title, a cast, a villain and a painted style.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Screen 3" descr="predict.jpg"/>
          <p:cNvPicPr/>
          <p:nvPr/>
        </p:nvPicPr>
        <p:blipFill>
          <a:blip r:embed="rId5"/>
          <a:srcRect l="20391" t="0" r="20391" b="0"/>
          <a:stretch/>
        </p:blipFill>
        <p:spPr>
          <a:xfrm>
            <a:off x="6035040" y="1371600"/>
            <a:ext cx="2742480" cy="2605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175" name="Screen 3 caption"/>
          <p:cNvSpPr/>
          <p:nvPr/>
        </p:nvSpPr>
        <p:spPr>
          <a:xfrm>
            <a:off x="6035040" y="4069080"/>
            <a:ext cx="2742480" cy="48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3. Predict first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1a1a1a"/>
                </a:solidFill>
                <a:latin typeface="Arial"/>
                <a:ea typeface="Arial"/>
              </a:rPr>
              <a:t>A guess before the act, compared with reality after it.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08;p20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177" name="Google Shape;109;p20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178" name="Google Shape;110;p20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111;p20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ARCHITECTURE DIAGRAM OF THE PROPOSED SOLUTION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One Cloud Run service, Gemini at every stage, code as referee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Browser box"/>
          <p:cNvSpPr/>
          <p:nvPr/>
        </p:nvSpPr>
        <p:spPr>
          <a:xfrm>
            <a:off x="365760" y="1417320"/>
            <a:ext cx="2010960" cy="2879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82" name="Browser icon"/>
          <p:cNvSpPr/>
          <p:nvPr/>
        </p:nvSpPr>
        <p:spPr>
          <a:xfrm>
            <a:off x="502920" y="1536120"/>
            <a:ext cx="365040" cy="36504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83" name="Picture 114" descr="FaGamepad-w.png"/>
          <p:cNvPicPr/>
          <p:nvPr/>
        </p:nvPicPr>
        <p:blipFill>
          <a:blip r:embed="rId3"/>
          <a:stretch/>
        </p:blipFill>
        <p:spPr>
          <a:xfrm>
            <a:off x="590760" y="1623960"/>
            <a:ext cx="189360" cy="189360"/>
          </a:xfrm>
          <a:prstGeom prst="rect">
            <a:avLst/>
          </a:prstGeom>
          <a:ln w="0">
            <a:noFill/>
          </a:ln>
        </p:spPr>
      </p:pic>
      <p:sp>
        <p:nvSpPr>
          <p:cNvPr id="184" name="Browser title"/>
          <p:cNvSpPr/>
          <p:nvPr/>
        </p:nvSpPr>
        <p:spPr>
          <a:xfrm>
            <a:off x="960120" y="1554480"/>
            <a:ext cx="1370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Browser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Browser body"/>
          <p:cNvSpPr/>
          <p:nvPr/>
        </p:nvSpPr>
        <p:spPr>
          <a:xfrm>
            <a:off x="502920" y="2011680"/>
            <a:ext cx="1782360" cy="13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React 18 UI: boards, ✓ verified card, adaptation cards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Phaser 3 isometric engine: painted rooms, cast, gates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Typed API client; live build progress over SSE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Mock mode: the demo runs with no server at all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ight Arrow 117"/>
          <p:cNvSpPr/>
          <p:nvPr/>
        </p:nvSpPr>
        <p:spPr>
          <a:xfrm>
            <a:off x="2432160" y="2651760"/>
            <a:ext cx="273600" cy="236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87" name="Cloud Run box"/>
          <p:cNvSpPr/>
          <p:nvPr/>
        </p:nvSpPr>
        <p:spPr>
          <a:xfrm>
            <a:off x="2761560" y="1417320"/>
            <a:ext cx="3291120" cy="2879640"/>
          </a:xfrm>
          <a:prstGeom prst="roundRect">
            <a:avLst>
              <a:gd name="adj" fmla="val 8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88" name="Cloud Run icon"/>
          <p:cNvSpPr/>
          <p:nvPr/>
        </p:nvSpPr>
        <p:spPr>
          <a:xfrm>
            <a:off x="2898720" y="1536120"/>
            <a:ext cx="365040" cy="36504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189" name="Picture 120" descr="FaCloud-d.png"/>
          <p:cNvPicPr/>
          <p:nvPr/>
        </p:nvPicPr>
        <p:blipFill>
          <a:blip r:embed="rId4"/>
          <a:stretch/>
        </p:blipFill>
        <p:spPr>
          <a:xfrm>
            <a:off x="2986560" y="1623960"/>
            <a:ext cx="189360" cy="189360"/>
          </a:xfrm>
          <a:prstGeom prst="rect">
            <a:avLst/>
          </a:prstGeom>
          <a:ln w="0">
            <a:noFill/>
          </a:ln>
        </p:spPr>
      </p:pic>
      <p:sp>
        <p:nvSpPr>
          <p:cNvPr id="190" name="Cloud Run title"/>
          <p:cNvSpPr/>
          <p:nvPr/>
        </p:nvSpPr>
        <p:spPr>
          <a:xfrm>
            <a:off x="3355920" y="155448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4ecd8"/>
                </a:solidFill>
                <a:latin typeface="Arial"/>
                <a:ea typeface="Arial"/>
              </a:rPr>
              <a:t>Cloud Run — one container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Module 1"/>
          <p:cNvSpPr/>
          <p:nvPr/>
        </p:nvSpPr>
        <p:spPr>
          <a:xfrm>
            <a:off x="2898720" y="1984320"/>
            <a:ext cx="3016800" cy="328320"/>
          </a:xfrm>
          <a:prstGeom prst="roundRect">
            <a:avLst>
              <a:gd name="adj" fmla="val 20000"/>
            </a:avLst>
          </a:prstGeom>
          <a:solidFill>
            <a:srgbClr val="3326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92" name="Module 1 text"/>
          <p:cNvSpPr/>
          <p:nvPr/>
        </p:nvSpPr>
        <p:spPr>
          <a:xfrm>
            <a:off x="2990160" y="2083320"/>
            <a:ext cx="2879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d9a441"/>
                </a:solidFill>
                <a:latin typeface="Arial"/>
                <a:ea typeface="Arial"/>
              </a:rPr>
              <a:t>Design pipeline  </a:t>
            </a: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curriculum → writers’ room → act writers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Module 2"/>
          <p:cNvSpPr/>
          <p:nvPr/>
        </p:nvSpPr>
        <p:spPr>
          <a:xfrm>
            <a:off x="2898720" y="2359080"/>
            <a:ext cx="3016800" cy="328320"/>
          </a:xfrm>
          <a:prstGeom prst="roundRect">
            <a:avLst>
              <a:gd name="adj" fmla="val 20000"/>
            </a:avLst>
          </a:prstGeom>
          <a:solidFill>
            <a:srgbClr val="3326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94" name="Module 2 text"/>
          <p:cNvSpPr/>
          <p:nvPr/>
        </p:nvSpPr>
        <p:spPr>
          <a:xfrm>
            <a:off x="2990160" y="2458080"/>
            <a:ext cx="2879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d9a441"/>
                </a:solidFill>
                <a:latin typeface="Arial"/>
                <a:ea typeface="Arial"/>
              </a:rPr>
              <a:t>Verifier  </a:t>
            </a: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simulator, citations, guess odds — deterministic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Module 3"/>
          <p:cNvSpPr/>
          <p:nvPr/>
        </p:nvSpPr>
        <p:spPr>
          <a:xfrm>
            <a:off x="2898720" y="2734200"/>
            <a:ext cx="3016800" cy="328320"/>
          </a:xfrm>
          <a:prstGeom prst="roundRect">
            <a:avLst>
              <a:gd name="adj" fmla="val 20000"/>
            </a:avLst>
          </a:prstGeom>
          <a:solidFill>
            <a:srgbClr val="3326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96" name="Module 3 text"/>
          <p:cNvSpPr/>
          <p:nvPr/>
        </p:nvSpPr>
        <p:spPr>
          <a:xfrm>
            <a:off x="2990160" y="2833200"/>
            <a:ext cx="2879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d9a441"/>
                </a:solidFill>
                <a:latin typeface="Arial"/>
                <a:ea typeface="Arial"/>
              </a:rPr>
              <a:t>Play-tester agent  </a:t>
            </a: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Gemini function calling over the game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Module 4"/>
          <p:cNvSpPr/>
          <p:nvPr/>
        </p:nvSpPr>
        <p:spPr>
          <a:xfrm>
            <a:off x="2898720" y="3108960"/>
            <a:ext cx="3016800" cy="328320"/>
          </a:xfrm>
          <a:prstGeom prst="roundRect">
            <a:avLst>
              <a:gd name="adj" fmla="val 20000"/>
            </a:avLst>
          </a:prstGeom>
          <a:solidFill>
            <a:srgbClr val="3326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98" name="Module 4 text"/>
          <p:cNvSpPr/>
          <p:nvPr/>
        </p:nvSpPr>
        <p:spPr>
          <a:xfrm>
            <a:off x="2990160" y="3143160"/>
            <a:ext cx="28796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d9a441"/>
                </a:solidFill>
                <a:latin typeface="Arial"/>
                <a:ea typeface="Arial"/>
              </a:rPr>
              <a:t>Live RAG  </a:t>
            </a: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chunk · embed · retrieve · rerank · answer · judge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Module 5"/>
          <p:cNvSpPr/>
          <p:nvPr/>
        </p:nvSpPr>
        <p:spPr>
          <a:xfrm>
            <a:off x="2898720" y="3483720"/>
            <a:ext cx="3016800" cy="328320"/>
          </a:xfrm>
          <a:prstGeom prst="roundRect">
            <a:avLst>
              <a:gd name="adj" fmla="val 20000"/>
            </a:avLst>
          </a:prstGeom>
          <a:solidFill>
            <a:srgbClr val="3326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00" name="Module 5 text"/>
          <p:cNvSpPr/>
          <p:nvPr/>
        </p:nvSpPr>
        <p:spPr>
          <a:xfrm>
            <a:off x="2990160" y="3582720"/>
            <a:ext cx="2879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d9a441"/>
                </a:solidFill>
                <a:latin typeface="Arial"/>
                <a:ea typeface="Arial"/>
              </a:rPr>
              <a:t>Guide &amp; adaptation  </a:t>
            </a: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misconception diagnosis, ~1.5 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Module 6"/>
          <p:cNvSpPr/>
          <p:nvPr/>
        </p:nvSpPr>
        <p:spPr>
          <a:xfrm>
            <a:off x="2898720" y="3858840"/>
            <a:ext cx="3016800" cy="328320"/>
          </a:xfrm>
          <a:prstGeom prst="roundRect">
            <a:avLst>
              <a:gd name="adj" fmla="val 20000"/>
            </a:avLst>
          </a:prstGeom>
          <a:solidFill>
            <a:srgbClr val="33261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02" name="Module 6 text"/>
          <p:cNvSpPr/>
          <p:nvPr/>
        </p:nvSpPr>
        <p:spPr>
          <a:xfrm>
            <a:off x="2990160" y="3957840"/>
            <a:ext cx="2879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d9a441"/>
                </a:solidFill>
                <a:latin typeface="Arial"/>
                <a:ea typeface="Arial"/>
              </a:rPr>
              <a:t>Caches  </a:t>
            </a: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scripts, art, RAG runs — keyed by chapter hash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ight Arrow 134"/>
          <p:cNvSpPr/>
          <p:nvPr/>
        </p:nvSpPr>
        <p:spPr>
          <a:xfrm>
            <a:off x="6108120" y="2651760"/>
            <a:ext cx="273600" cy="236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04" name="Gemini box"/>
          <p:cNvSpPr/>
          <p:nvPr/>
        </p:nvSpPr>
        <p:spPr>
          <a:xfrm>
            <a:off x="6437520" y="1417320"/>
            <a:ext cx="2340000" cy="2879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05" name="Gemini icon"/>
          <p:cNvSpPr/>
          <p:nvPr/>
        </p:nvSpPr>
        <p:spPr>
          <a:xfrm>
            <a:off x="6574680" y="1536120"/>
            <a:ext cx="365040" cy="36504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206" name="Picture 137" descr="FaWandMagicSparkles-w.png"/>
          <p:cNvPicPr/>
          <p:nvPr/>
        </p:nvPicPr>
        <p:blipFill>
          <a:blip r:embed="rId5"/>
          <a:stretch/>
        </p:blipFill>
        <p:spPr>
          <a:xfrm>
            <a:off x="6662160" y="1623960"/>
            <a:ext cx="189360" cy="189360"/>
          </a:xfrm>
          <a:prstGeom prst="rect">
            <a:avLst/>
          </a:prstGeom>
          <a:ln w="0">
            <a:noFill/>
          </a:ln>
        </p:spPr>
      </p:pic>
      <p:sp>
        <p:nvSpPr>
          <p:cNvPr id="207" name="Gemini title"/>
          <p:cNvSpPr/>
          <p:nvPr/>
        </p:nvSpPr>
        <p:spPr>
          <a:xfrm>
            <a:off x="7031880" y="1554480"/>
            <a:ext cx="16909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Gemini API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Gemini models"/>
          <p:cNvSpPr/>
          <p:nvPr/>
        </p:nvSpPr>
        <p:spPr>
          <a:xfrm>
            <a:off x="6574680" y="2011680"/>
            <a:ext cx="2120760" cy="16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Gemini 4 Argon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design, act writing, evidence judge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Gemini 3.8 Flash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play-tester, Oracle answers, RAG judge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Gemini 3.5 Flash-Lite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guide, adaptation, reranking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Nano Banana 2.1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the art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Gemini Embedding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retrieval over the chapter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Deploy line"/>
          <p:cNvSpPr/>
          <p:nvPr/>
        </p:nvSpPr>
        <p:spPr>
          <a:xfrm>
            <a:off x="365760" y="440748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5f5f5f"/>
                </a:solidFill>
                <a:latin typeface="Arial"/>
                <a:ea typeface="Arial"/>
              </a:rPr>
              <a:t>Deploy: </a:t>
            </a:r>
            <a:r>
              <a:rPr b="0" lang="en-US" sz="950" spc="-1" strike="noStrike">
                <a:solidFill>
                  <a:srgbClr val="5f5f5f"/>
                </a:solidFill>
                <a:latin typeface="Arial"/>
                <a:ea typeface="Arial"/>
              </a:rPr>
              <a:t>Docker → Cloud Build / Artifact Registry → Cloud Run · API key in Secret Manager · built worlds and art ship inside the image, so the demo opens instantly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116;p21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211" name="Google Shape;117;p21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212" name="Google Shape;118;p21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Google Shape;119;p21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TECHNOLOGIES TO BE USED IN THE SOLUTION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Gemini, used five ways — on Google Cloud, end to end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5" name="Table 120"/>
          <p:cNvGraphicFramePr/>
          <p:nvPr/>
        </p:nvGraphicFramePr>
        <p:xfrm>
          <a:off x="365760" y="1417320"/>
          <a:ext cx="5577480" cy="3016080"/>
        </p:xfrm>
        <a:graphic>
          <a:graphicData uri="http://schemas.openxmlformats.org/drawingml/2006/table">
            <a:tbl>
              <a:tblPr/>
              <a:tblGrid>
                <a:gridCol w="1417320"/>
                <a:gridCol w="2377440"/>
                <a:gridCol w="1783080"/>
              </a:tblGrid>
              <a:tr h="41148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What it does here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Gemini capability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  <a:tr h="52092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Gemini 4 Argon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Curriculum, story drafts and judge, act writing, evidence judge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Structured output (JSON schemas), PDF input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92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Gemini 3.8 Flash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Play-tester agent, Oracle answers, RAG judge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Function calling (tool use)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</a:tr>
              <a:tr h="52092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Gemini 3.5 Flash-Lite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Guide, misconception diagnosis, reranking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Low-latency structured output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92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Nano Banana 2.1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Cast, props, rooms, walk sheets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Image generation with a style reference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</a:tr>
              <a:tr h="52092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Gemini Embedding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Live retrieval over the uploaded chapter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Embeddings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6" name="Stack title"/>
          <p:cNvSpPr/>
          <p:nvPr/>
        </p:nvSpPr>
        <p:spPr>
          <a:xfrm>
            <a:off x="6217920" y="1417320"/>
            <a:ext cx="25596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Arial"/>
              </a:rPr>
              <a:t>Cloud &amp; app stack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Chip Cloud Run"/>
          <p:cNvSpPr/>
          <p:nvPr/>
        </p:nvSpPr>
        <p:spPr>
          <a:xfrm>
            <a:off x="6217920" y="1783080"/>
            <a:ext cx="738000" cy="300960"/>
          </a:xfrm>
          <a:prstGeom prst="roundRect">
            <a:avLst>
              <a:gd name="adj" fmla="val 50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18" name="Chip Cloud Run text"/>
          <p:cNvSpPr/>
          <p:nvPr/>
        </p:nvSpPr>
        <p:spPr>
          <a:xfrm>
            <a:off x="6217920" y="1868400"/>
            <a:ext cx="7380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Cloud Run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hip Cloud Build"/>
          <p:cNvSpPr/>
          <p:nvPr/>
        </p:nvSpPr>
        <p:spPr>
          <a:xfrm>
            <a:off x="7030080" y="1783080"/>
            <a:ext cx="869760" cy="300960"/>
          </a:xfrm>
          <a:prstGeom prst="roundRect">
            <a:avLst>
              <a:gd name="adj" fmla="val 50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0" name="Chip Cloud Build text"/>
          <p:cNvSpPr/>
          <p:nvPr/>
        </p:nvSpPr>
        <p:spPr>
          <a:xfrm>
            <a:off x="7030080" y="1868400"/>
            <a:ext cx="86976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Cloud Build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Chip Artifact Registry"/>
          <p:cNvSpPr/>
          <p:nvPr/>
        </p:nvSpPr>
        <p:spPr>
          <a:xfrm>
            <a:off x="6217920" y="2167200"/>
            <a:ext cx="1264680" cy="300960"/>
          </a:xfrm>
          <a:prstGeom prst="roundRect">
            <a:avLst>
              <a:gd name="adj" fmla="val 50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2" name="Chip Artifact Registry text"/>
          <p:cNvSpPr/>
          <p:nvPr/>
        </p:nvSpPr>
        <p:spPr>
          <a:xfrm>
            <a:off x="6217920" y="2252520"/>
            <a:ext cx="12646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Artifact Registry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hip Secret Manager"/>
          <p:cNvSpPr/>
          <p:nvPr/>
        </p:nvSpPr>
        <p:spPr>
          <a:xfrm>
            <a:off x="7556760" y="2167200"/>
            <a:ext cx="1067400" cy="300960"/>
          </a:xfrm>
          <a:prstGeom prst="roundRect">
            <a:avLst>
              <a:gd name="adj" fmla="val 50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4" name="Chip Secret Manager text"/>
          <p:cNvSpPr/>
          <p:nvPr/>
        </p:nvSpPr>
        <p:spPr>
          <a:xfrm>
            <a:off x="7556760" y="2252520"/>
            <a:ext cx="10674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Secret Manager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hip TypeScript monorepo"/>
          <p:cNvSpPr/>
          <p:nvPr/>
        </p:nvSpPr>
        <p:spPr>
          <a:xfrm>
            <a:off x="6217920" y="2551320"/>
            <a:ext cx="139644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6" name="Chip TypeScript monorepo text"/>
          <p:cNvSpPr/>
          <p:nvPr/>
        </p:nvSpPr>
        <p:spPr>
          <a:xfrm>
            <a:off x="6217920" y="2636640"/>
            <a:ext cx="13964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TypeScript monorepo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hip React 18 + Vite"/>
          <p:cNvSpPr/>
          <p:nvPr/>
        </p:nvSpPr>
        <p:spPr>
          <a:xfrm>
            <a:off x="6217920" y="2935080"/>
            <a:ext cx="113328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8" name="Chip React 18 + Vite text"/>
          <p:cNvSpPr/>
          <p:nvPr/>
        </p:nvSpPr>
        <p:spPr>
          <a:xfrm>
            <a:off x="6217920" y="3020400"/>
            <a:ext cx="11332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React 18 + Vite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Chip Phaser 3"/>
          <p:cNvSpPr/>
          <p:nvPr/>
        </p:nvSpPr>
        <p:spPr>
          <a:xfrm>
            <a:off x="7425000" y="2935080"/>
            <a:ext cx="67212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0" name="Chip Phaser 3 text"/>
          <p:cNvSpPr/>
          <p:nvPr/>
        </p:nvSpPr>
        <p:spPr>
          <a:xfrm>
            <a:off x="7425000" y="3020400"/>
            <a:ext cx="6721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Phaser 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Chip Node 20 + Express"/>
          <p:cNvSpPr/>
          <p:nvPr/>
        </p:nvSpPr>
        <p:spPr>
          <a:xfrm>
            <a:off x="6217920" y="3319200"/>
            <a:ext cx="126468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2" name="Chip Node 20 + Express text"/>
          <p:cNvSpPr/>
          <p:nvPr/>
        </p:nvSpPr>
        <p:spPr>
          <a:xfrm>
            <a:off x="6217920" y="3404520"/>
            <a:ext cx="12646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Node 20 + Express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Chip Docker"/>
          <p:cNvSpPr/>
          <p:nvPr/>
        </p:nvSpPr>
        <p:spPr>
          <a:xfrm>
            <a:off x="7556760" y="3319200"/>
            <a:ext cx="54072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4" name="Chip Docker text"/>
          <p:cNvSpPr/>
          <p:nvPr/>
        </p:nvSpPr>
        <p:spPr>
          <a:xfrm>
            <a:off x="7556760" y="3404520"/>
            <a:ext cx="5407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Docker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hip node:test — 231 tests"/>
          <p:cNvSpPr/>
          <p:nvPr/>
        </p:nvSpPr>
        <p:spPr>
          <a:xfrm>
            <a:off x="6217920" y="3703320"/>
            <a:ext cx="152820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6" name="Chip node:test — 231 tests text"/>
          <p:cNvSpPr/>
          <p:nvPr/>
        </p:nvSpPr>
        <p:spPr>
          <a:xfrm>
            <a:off x="6217920" y="3788640"/>
            <a:ext cx="152820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node:test — 231 tests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Chip Playwright headless QA"/>
          <p:cNvSpPr/>
          <p:nvPr/>
        </p:nvSpPr>
        <p:spPr>
          <a:xfrm>
            <a:off x="6217920" y="4087440"/>
            <a:ext cx="159408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38" name="Chip Playwright headless QA text"/>
          <p:cNvSpPr/>
          <p:nvPr/>
        </p:nvSpPr>
        <p:spPr>
          <a:xfrm>
            <a:off x="6217920" y="4172760"/>
            <a:ext cx="159408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Playwright headless QA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Chip pdf.js"/>
          <p:cNvSpPr/>
          <p:nvPr/>
        </p:nvSpPr>
        <p:spPr>
          <a:xfrm>
            <a:off x="7885800" y="4087440"/>
            <a:ext cx="540720" cy="300960"/>
          </a:xfrm>
          <a:prstGeom prst="roundRect">
            <a:avLst>
              <a:gd name="adj" fmla="val 50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40" name="Chip pdf.js text"/>
          <p:cNvSpPr/>
          <p:nvPr/>
        </p:nvSpPr>
        <p:spPr>
          <a:xfrm>
            <a:off x="7885800" y="4172760"/>
            <a:ext cx="54072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1a1a1a"/>
                </a:solidFill>
                <a:latin typeface="Arial"/>
                <a:ea typeface="Arial"/>
              </a:rPr>
              <a:t>pdf.js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afety note"/>
          <p:cNvSpPr/>
          <p:nvPr/>
        </p:nvSpPr>
        <p:spPr>
          <a:xfrm>
            <a:off x="365760" y="4590360"/>
            <a:ext cx="5577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Everything the AI makes is structured data. Nothing it writes is executed — the game’s own code runs every check.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124;p22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243" name="Google Shape;125;p22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244" name="Google Shape;126;p22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Google Shape;127;p22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ESTIMATED IMPLEMENTATION COST (OPTIONAL)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Pay once per chapter. Every replay is free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7" name="Table 128"/>
          <p:cNvGraphicFramePr/>
          <p:nvPr/>
        </p:nvGraphicFramePr>
        <p:xfrm>
          <a:off x="365760" y="1417320"/>
          <a:ext cx="566892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  <a:gridCol w="1737360"/>
              </a:tblGrid>
              <a:tr h="45720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What it takes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4ecd8"/>
                          </a:solidFill>
                          <a:latin typeface="Arial"/>
                          <a:ea typeface="Arial"/>
                        </a:rPr>
                        <a:t>Basis</a:t>
                      </a:r>
                      <a:endParaRPr b="0" lang="en-U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140d"/>
                    </a:solidFill>
                  </a:tcPr>
                </a:tc>
              </a:tr>
              <a:tr h="45720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Build a world (script)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≈</a:t>
                      </a: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13 model calls, ≈95k tokens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Measured: average of 8 chapters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Paint a world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16–21 Nano Banana images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Measured; 3 painted at once, ~2 min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</a:tr>
              <a:tr h="45720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Replay a built world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$0 — scripts, art and RAG runs cached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Measured: cache keyed by chapter hash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One adaptation (per miss)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1 Flash-Lite call, ~1.5 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Measured latency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2ee"/>
                    </a:solidFill>
                  </a:tcPr>
                </a:tc>
              </a:tr>
              <a:tr h="457200"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Hosting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</a:rPr>
                        <a:t>One Cloud Run container, scales to zero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950" spc="-1" strike="noStrike">
                          <a:solidFill>
                            <a:srgbClr val="5f5f5f"/>
                          </a:solidFill>
                          <a:latin typeface="Arial"/>
                          <a:ea typeface="Arial"/>
                        </a:rPr>
                        <a:t>745 MB image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720" marR="63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8" name="Cost stat 1"/>
          <p:cNvSpPr/>
          <p:nvPr/>
        </p:nvSpPr>
        <p:spPr>
          <a:xfrm>
            <a:off x="6263640" y="1417320"/>
            <a:ext cx="2513880" cy="895320"/>
          </a:xfrm>
          <a:prstGeom prst="roundRect">
            <a:avLst>
              <a:gd name="adj" fmla="val 8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49" name="Cost stat 1 value"/>
          <p:cNvSpPr/>
          <p:nvPr/>
        </p:nvSpPr>
        <p:spPr>
          <a:xfrm>
            <a:off x="6400800" y="1490400"/>
            <a:ext cx="22852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d9a441"/>
                </a:solidFill>
                <a:latin typeface="Google Sans Flex"/>
                <a:ea typeface="Arial"/>
              </a:rPr>
              <a:t>≈</a:t>
            </a:r>
            <a:r>
              <a:rPr b="1" lang="en-US" sz="2200" spc="-1" strike="noStrike">
                <a:solidFill>
                  <a:srgbClr val="d9a441"/>
                </a:solidFill>
                <a:latin typeface="Google Sans Flex"/>
                <a:ea typeface="Arial"/>
              </a:rPr>
              <a:t>$0.20–0.40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ost stat 1 label"/>
          <p:cNvSpPr/>
          <p:nvPr/>
        </p:nvSpPr>
        <p:spPr>
          <a:xfrm>
            <a:off x="6400800" y="1929240"/>
            <a:ext cx="2285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4ecd8"/>
                </a:solidFill>
                <a:latin typeface="Arial"/>
                <a:ea typeface="Arial"/>
              </a:rPr>
              <a:t>to write and verify one world’s script*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Cost stat 2"/>
          <p:cNvSpPr/>
          <p:nvPr/>
        </p:nvSpPr>
        <p:spPr>
          <a:xfrm>
            <a:off x="6263640" y="2404800"/>
            <a:ext cx="25138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52" name="Cost stat 2 value"/>
          <p:cNvSpPr/>
          <p:nvPr/>
        </p:nvSpPr>
        <p:spPr>
          <a:xfrm>
            <a:off x="6400800" y="2477880"/>
            <a:ext cx="22852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a1a1a"/>
                </a:solidFill>
                <a:latin typeface="Google Sans Flex"/>
                <a:ea typeface="Arial"/>
              </a:rPr>
              <a:t>$0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ost stat 2 label"/>
          <p:cNvSpPr/>
          <p:nvPr/>
        </p:nvSpPr>
        <p:spPr>
          <a:xfrm>
            <a:off x="6400800" y="2917080"/>
            <a:ext cx="2285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to replay it, for any number of learners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Cost stat 3"/>
          <p:cNvSpPr/>
          <p:nvPr/>
        </p:nvSpPr>
        <p:spPr>
          <a:xfrm>
            <a:off x="6263640" y="3392280"/>
            <a:ext cx="25138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55" name="Cost stat 3 value"/>
          <p:cNvSpPr/>
          <p:nvPr/>
        </p:nvSpPr>
        <p:spPr>
          <a:xfrm>
            <a:off x="6400800" y="3465720"/>
            <a:ext cx="22852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1a1a1a"/>
                </a:solidFill>
                <a:latin typeface="Google Sans Flex"/>
                <a:ea typeface="Arial"/>
              </a:rPr>
              <a:t>~1.5 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Cost stat 3 label"/>
          <p:cNvSpPr/>
          <p:nvPr/>
        </p:nvSpPr>
        <p:spPr>
          <a:xfrm>
            <a:off x="6400800" y="3904560"/>
            <a:ext cx="22852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for a misconception-aware hint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Cost footnote"/>
          <p:cNvSpPr/>
          <p:nvPr/>
        </p:nvSpPr>
        <p:spPr>
          <a:xfrm>
            <a:off x="365760" y="4462200"/>
            <a:ext cx="841176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5f5f5f"/>
                </a:solidFill>
                <a:latin typeface="Arial"/>
                <a:ea typeface="Arial"/>
              </a:rPr>
              <a:t>*Estimate at the per-token prices our router reports for Gemini 4 Argon ($2 in / $10 out per 1M tokens); the range covers the unmeasured input/output split. Image pricing excluded.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132;p23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259" name="Google Shape;133;p23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260" name="Google Shape;134;p23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Google Shape;135;p23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SNAPSHOTS OF THE PROTOTYPE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Snapshots from the working prototype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Snapshot 1" descr="evidence-adapt.jpg"/>
          <p:cNvPicPr/>
          <p:nvPr/>
        </p:nvPicPr>
        <p:blipFill>
          <a:blip r:embed="rId3"/>
          <a:srcRect l="0" t="7496" r="0" b="29979"/>
          <a:stretch/>
        </p:blipFill>
        <p:spPr>
          <a:xfrm>
            <a:off x="365760" y="1371600"/>
            <a:ext cx="4159800" cy="1462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264" name="Snapshot 1 caption"/>
          <p:cNvSpPr/>
          <p:nvPr/>
        </p:nvSpPr>
        <p:spPr>
          <a:xfrm>
            <a:off x="365760" y="2862000"/>
            <a:ext cx="41598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Pin the wrong document — the character who embodies your mistake walks in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Snapshot 2" descr="rag-fail.jpg"/>
          <p:cNvPicPr/>
          <p:nvPr/>
        </p:nvPicPr>
        <p:blipFill>
          <a:blip r:embed="rId4"/>
          <a:srcRect l="0" t="9369" r="0" b="28106"/>
          <a:stretch/>
        </p:blipFill>
        <p:spPr>
          <a:xfrm>
            <a:off x="4617720" y="1371600"/>
            <a:ext cx="4159800" cy="1462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266" name="Snapshot 2 caption"/>
          <p:cNvSpPr/>
          <p:nvPr/>
        </p:nvSpPr>
        <p:spPr>
          <a:xfrm>
            <a:off x="4617720" y="2862000"/>
            <a:ext cx="41598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Live RAG over the chapter: a right answer still fails — the fact was torn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" name="Snapshot 3" descr="sequence-fail.jpg"/>
          <p:cNvPicPr/>
          <p:nvPr/>
        </p:nvPicPr>
        <p:blipFill>
          <a:blip r:embed="rId5"/>
          <a:srcRect l="0" t="16865" r="0" b="20611"/>
          <a:stretch/>
        </p:blipFill>
        <p:spPr>
          <a:xfrm>
            <a:off x="365760" y="3154680"/>
            <a:ext cx="4159800" cy="1462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268" name="Snapshot 3 caption"/>
          <p:cNvSpPr/>
          <p:nvPr/>
        </p:nvSpPr>
        <p:spPr>
          <a:xfrm>
            <a:off x="365760" y="4645080"/>
            <a:ext cx="41598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Order a process; a broken link explains itself, quoted from your notes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Snapshot 4" descr="verified-rag.jpg"/>
          <p:cNvPicPr/>
          <p:nvPr/>
        </p:nvPicPr>
        <p:blipFill>
          <a:blip r:embed="rId6"/>
          <a:srcRect l="0" t="18738" r="0" b="18738"/>
          <a:stretch/>
        </p:blipFill>
        <p:spPr>
          <a:xfrm>
            <a:off x="4617720" y="3154680"/>
            <a:ext cx="4159800" cy="1462320"/>
          </a:xfrm>
          <a:prstGeom prst="rect">
            <a:avLst/>
          </a:prstGeom>
          <a:ln w="9525">
            <a:solidFill>
              <a:srgbClr val="ddd8ce"/>
            </a:solidFill>
            <a:round/>
          </a:ln>
        </p:spPr>
      </p:pic>
      <p:sp>
        <p:nvSpPr>
          <p:cNvPr id="270" name="Snapshot 4 caption"/>
          <p:cNvSpPr/>
          <p:nvPr/>
        </p:nvSpPr>
        <p:spPr>
          <a:xfrm>
            <a:off x="4617720" y="4645080"/>
            <a:ext cx="41598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f5f5f"/>
                </a:solidFill>
                <a:latin typeface="Arial"/>
                <a:ea typeface="Arial"/>
              </a:rPr>
              <a:t>The ✓ verified card: what was proved before you played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140;p24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272" name="Google Shape;141;p24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273" name="Google Shape;142;p24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Google Shape;143;p24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PROTOTYPE PERFORMANCE REPORT/BENCHMARKING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Measured, not claimed: 8 real chapters rebuilt from scratch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KPI 1"/>
          <p:cNvSpPr/>
          <p:nvPr/>
        </p:nvSpPr>
        <p:spPr>
          <a:xfrm>
            <a:off x="365760" y="1417320"/>
            <a:ext cx="1370880" cy="1279440"/>
          </a:xfrm>
          <a:prstGeom prst="roundRect">
            <a:avLst>
              <a:gd name="adj" fmla="val 8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77" name="KPI 1 value"/>
          <p:cNvSpPr/>
          <p:nvPr/>
        </p:nvSpPr>
        <p:spPr>
          <a:xfrm>
            <a:off x="457200" y="1527120"/>
            <a:ext cx="118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d9a441"/>
                </a:solidFill>
                <a:latin typeface="Google Sans Flex"/>
                <a:ea typeface="Arial"/>
              </a:rPr>
              <a:t>8/8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KPI 1 label"/>
          <p:cNvSpPr/>
          <p:nvPr/>
        </p:nvSpPr>
        <p:spPr>
          <a:xfrm>
            <a:off x="457200" y="2075760"/>
            <a:ext cx="121536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f4ecd8"/>
                </a:solidFill>
                <a:latin typeface="Arial"/>
                <a:ea typeface="Arial"/>
              </a:rPr>
              <a:t>chapters became a game from their own content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KPI 2"/>
          <p:cNvSpPr/>
          <p:nvPr/>
        </p:nvSpPr>
        <p:spPr>
          <a:xfrm>
            <a:off x="1828800" y="1417320"/>
            <a:ext cx="1370880" cy="12794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80" name="KPI 2 value"/>
          <p:cNvSpPr/>
          <p:nvPr/>
        </p:nvSpPr>
        <p:spPr>
          <a:xfrm>
            <a:off x="1920240" y="1527120"/>
            <a:ext cx="118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Google Sans Flex"/>
                <a:ea typeface="Arial"/>
              </a:rPr>
              <a:t>22/22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KPI 2 label"/>
          <p:cNvSpPr/>
          <p:nvPr/>
        </p:nvSpPr>
        <p:spPr>
          <a:xfrm>
            <a:off x="1920240" y="2075760"/>
            <a:ext cx="12153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acts proved finishable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KPI 3"/>
          <p:cNvSpPr/>
          <p:nvPr/>
        </p:nvSpPr>
        <p:spPr>
          <a:xfrm>
            <a:off x="3291840" y="1417320"/>
            <a:ext cx="1370880" cy="12794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83" name="KPI 3 value"/>
          <p:cNvSpPr/>
          <p:nvPr/>
        </p:nvSpPr>
        <p:spPr>
          <a:xfrm>
            <a:off x="3383280" y="1527120"/>
            <a:ext cx="118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Google Sans Flex"/>
                <a:ea typeface="Arial"/>
              </a:rPr>
              <a:t>≤</a:t>
            </a:r>
            <a:r>
              <a:rPr b="1" lang="en-US" sz="2400" spc="-1" strike="noStrike">
                <a:solidFill>
                  <a:srgbClr val="1a1a1a"/>
                </a:solidFill>
                <a:latin typeface="Google Sans Flex"/>
                <a:ea typeface="Arial"/>
              </a:rPr>
              <a:t>6%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KPI 3 label"/>
          <p:cNvSpPr/>
          <p:nvPr/>
        </p:nvSpPr>
        <p:spPr>
          <a:xfrm>
            <a:off x="3383280" y="2075760"/>
            <a:ext cx="1215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worst-case odds of winning by guessing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KPI 4"/>
          <p:cNvSpPr/>
          <p:nvPr/>
        </p:nvSpPr>
        <p:spPr>
          <a:xfrm>
            <a:off x="365760" y="2788920"/>
            <a:ext cx="1370880" cy="12794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86" name="KPI 4 value"/>
          <p:cNvSpPr/>
          <p:nvPr/>
        </p:nvSpPr>
        <p:spPr>
          <a:xfrm>
            <a:off x="457200" y="2898720"/>
            <a:ext cx="118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Google Sans Flex"/>
                <a:ea typeface="Arial"/>
              </a:rPr>
              <a:t>74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KPI 4 label"/>
          <p:cNvSpPr/>
          <p:nvPr/>
        </p:nvSpPr>
        <p:spPr>
          <a:xfrm>
            <a:off x="457200" y="3447360"/>
            <a:ext cx="1215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citations checked word for word against notes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KPI 5"/>
          <p:cNvSpPr/>
          <p:nvPr/>
        </p:nvSpPr>
        <p:spPr>
          <a:xfrm>
            <a:off x="1828800" y="2788920"/>
            <a:ext cx="1370880" cy="12794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89" name="KPI 5 value"/>
          <p:cNvSpPr/>
          <p:nvPr/>
        </p:nvSpPr>
        <p:spPr>
          <a:xfrm>
            <a:off x="1920240" y="2898720"/>
            <a:ext cx="118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Google Sans Flex"/>
                <a:ea typeface="Arial"/>
              </a:rPr>
              <a:t>3/3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KPI 5 label"/>
          <p:cNvSpPr/>
          <p:nvPr/>
        </p:nvSpPr>
        <p:spPr>
          <a:xfrm>
            <a:off x="1920240" y="3447360"/>
            <a:ext cx="1215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RAG acts run live: start loses, a fix wins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KPI 6"/>
          <p:cNvSpPr/>
          <p:nvPr/>
        </p:nvSpPr>
        <p:spPr>
          <a:xfrm>
            <a:off x="3291840" y="2788920"/>
            <a:ext cx="1370880" cy="12794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92" name="KPI 6 value"/>
          <p:cNvSpPr/>
          <p:nvPr/>
        </p:nvSpPr>
        <p:spPr>
          <a:xfrm>
            <a:off x="3383280" y="2898720"/>
            <a:ext cx="118800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a1a1a"/>
                </a:solidFill>
                <a:latin typeface="Google Sans Flex"/>
                <a:ea typeface="Arial"/>
              </a:rPr>
              <a:t>2.5×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KPI 6 label"/>
          <p:cNvSpPr/>
          <p:nvPr/>
        </p:nvSpPr>
        <p:spPr>
          <a:xfrm>
            <a:off x="3383280" y="3447360"/>
            <a:ext cx="121536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faster art: 319 s → 128 s for 16 images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4" name="Guess odds chart"/>
          <p:cNvGraphicFramePr/>
          <p:nvPr/>
        </p:nvGraphicFramePr>
        <p:xfrm>
          <a:off x="4846320" y="1371600"/>
          <a:ext cx="3931200" cy="2742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5" name="Eval note"/>
          <p:cNvSpPr/>
          <p:nvPr/>
        </p:nvSpPr>
        <p:spPr>
          <a:xfrm>
            <a:off x="4846320" y="4160520"/>
            <a:ext cx="393120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5f5f5f"/>
                </a:solidFill>
                <a:latin typeface="Arial"/>
                <a:ea typeface="Arial"/>
              </a:rPr>
              <a:t>Our bar for every act: random play must almost always lose. Build: ~2 min per world, 13 calls. Eval run 18 Oct 2026 with live Gemini; the evidence judge is a model and is labelled as one.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148;p25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297" name="Google Shape;149;p25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298" name="Google Shape;150;p25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Google Shape;151;p25"/>
          <p:cNvSpPr/>
          <p:nvPr/>
        </p:nvSpPr>
        <p:spPr>
          <a:xfrm>
            <a:off x="265320" y="548640"/>
            <a:ext cx="894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GB" sz="950" spc="-1" strike="noStrike">
                <a:solidFill>
                  <a:srgbClr val="5f5f5f"/>
                </a:solidFill>
                <a:latin typeface="Google Sans Flex Medium"/>
                <a:ea typeface="Google Sans Flex Medium"/>
              </a:rPr>
              <a:t>ADDITIONAL DETAILS/FUTURE DEVELOPMENT (IF ANY)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Headline"/>
          <p:cNvSpPr/>
          <p:nvPr/>
        </p:nvSpPr>
        <p:spPr>
          <a:xfrm>
            <a:off x="365760" y="804600"/>
            <a:ext cx="841176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1a1a"/>
                </a:solidFill>
                <a:latin typeface="Google Sans Flex"/>
                <a:ea typeface="Arial"/>
              </a:rPr>
              <a:t>Next: every kind of concept, every classroom, every language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Horizon 1 label"/>
          <p:cNvSpPr/>
          <p:nvPr/>
        </p:nvSpPr>
        <p:spPr>
          <a:xfrm>
            <a:off x="365760" y="1389960"/>
            <a:ext cx="2742480" cy="365040"/>
          </a:xfrm>
          <a:prstGeom prst="roundRect">
            <a:avLst>
              <a:gd name="adj" fmla="val 40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02" name="Horizon 1 label text"/>
          <p:cNvSpPr/>
          <p:nvPr/>
        </p:nvSpPr>
        <p:spPr>
          <a:xfrm>
            <a:off x="365760" y="1495800"/>
            <a:ext cx="27424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NEXT 4 WEEKS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Horizon 1 item 1"/>
          <p:cNvSpPr/>
          <p:nvPr/>
        </p:nvSpPr>
        <p:spPr>
          <a:xfrm>
            <a:off x="365760" y="187452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04" name="Horizon 1 icon 1"/>
          <p:cNvSpPr/>
          <p:nvPr/>
        </p:nvSpPr>
        <p:spPr>
          <a:xfrm>
            <a:off x="475560" y="203004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05" name="Picture 156" descr="FaPuzzlePiece-w.png"/>
          <p:cNvPicPr/>
          <p:nvPr/>
        </p:nvPicPr>
        <p:blipFill>
          <a:blip r:embed="rId3"/>
          <a:stretch/>
        </p:blipFill>
        <p:spPr>
          <a:xfrm>
            <a:off x="567720" y="212220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06" name="Horizon 1 text 1"/>
          <p:cNvSpPr/>
          <p:nvPr/>
        </p:nvSpPr>
        <p:spPr>
          <a:xfrm>
            <a:off x="969120" y="198432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Definitions &amp; arguments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a mechanic for the last 8% of concepts we refuse today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Horizon 1 item 2"/>
          <p:cNvSpPr/>
          <p:nvPr/>
        </p:nvSpPr>
        <p:spPr>
          <a:xfrm>
            <a:off x="365760" y="286200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08" name="Horizon 1 icon 2"/>
          <p:cNvSpPr/>
          <p:nvPr/>
        </p:nvSpPr>
        <p:spPr>
          <a:xfrm>
            <a:off x="475560" y="301752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09" name="Picture 160" descr="FaEye-w.png"/>
          <p:cNvPicPr/>
          <p:nvPr/>
        </p:nvPicPr>
        <p:blipFill>
          <a:blip r:embed="rId4"/>
          <a:stretch/>
        </p:blipFill>
        <p:spPr>
          <a:xfrm>
            <a:off x="567720" y="310968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10" name="Horizon 1 text 2"/>
          <p:cNvSpPr/>
          <p:nvPr/>
        </p:nvSpPr>
        <p:spPr>
          <a:xfrm>
            <a:off x="969120" y="297180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Gemini vision art QA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every painted asset checked against what it should show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Horizon 1 item 3"/>
          <p:cNvSpPr/>
          <p:nvPr/>
        </p:nvSpPr>
        <p:spPr>
          <a:xfrm>
            <a:off x="365760" y="384948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12" name="Horizon 1 icon 3"/>
          <p:cNvSpPr/>
          <p:nvPr/>
        </p:nvSpPr>
        <p:spPr>
          <a:xfrm>
            <a:off x="475560" y="400500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13" name="Picture 164" descr="FaBolt-w.png"/>
          <p:cNvPicPr/>
          <p:nvPr/>
        </p:nvPicPr>
        <p:blipFill>
          <a:blip r:embed="rId5"/>
          <a:stretch/>
        </p:blipFill>
        <p:spPr>
          <a:xfrm>
            <a:off x="567720" y="409716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14" name="Horizon 1 text 3"/>
          <p:cNvSpPr/>
          <p:nvPr/>
        </p:nvSpPr>
        <p:spPr>
          <a:xfrm>
            <a:off x="969120" y="395928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Context caching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the chapter cached once per build: faster, cheaper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Horizon 2 label"/>
          <p:cNvSpPr/>
          <p:nvPr/>
        </p:nvSpPr>
        <p:spPr>
          <a:xfrm>
            <a:off x="3200400" y="1389960"/>
            <a:ext cx="2742480" cy="365040"/>
          </a:xfrm>
          <a:prstGeom prst="roundRect">
            <a:avLst>
              <a:gd name="adj" fmla="val 40000"/>
            </a:avLst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16" name="Horizon 2 label text"/>
          <p:cNvSpPr/>
          <p:nvPr/>
        </p:nvSpPr>
        <p:spPr>
          <a:xfrm>
            <a:off x="3200400" y="1495800"/>
            <a:ext cx="27424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140d"/>
                </a:solidFill>
                <a:latin typeface="Arial"/>
                <a:ea typeface="Arial"/>
              </a:rPr>
              <a:t>NEXT QUARTER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Horizon 2 item 1"/>
          <p:cNvSpPr/>
          <p:nvPr/>
        </p:nvSpPr>
        <p:spPr>
          <a:xfrm>
            <a:off x="3200400" y="187452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18" name="Horizon 2 icon 1"/>
          <p:cNvSpPr/>
          <p:nvPr/>
        </p:nvSpPr>
        <p:spPr>
          <a:xfrm>
            <a:off x="3310200" y="203004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19" name="Picture 170" descr="FaChalkboardUser-w.png"/>
          <p:cNvPicPr/>
          <p:nvPr/>
        </p:nvPicPr>
        <p:blipFill>
          <a:blip r:embed="rId6"/>
          <a:stretch/>
        </p:blipFill>
        <p:spPr>
          <a:xfrm>
            <a:off x="3402360" y="212220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20" name="Horizon 2 text 1"/>
          <p:cNvSpPr/>
          <p:nvPr/>
        </p:nvSpPr>
        <p:spPr>
          <a:xfrm>
            <a:off x="3803760" y="198432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Teacher dashboard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class-wide misconception maps from real attempts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Horizon 2 item 2"/>
          <p:cNvSpPr/>
          <p:nvPr/>
        </p:nvSpPr>
        <p:spPr>
          <a:xfrm>
            <a:off x="3200400" y="286200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22" name="Horizon 2 icon 2"/>
          <p:cNvSpPr/>
          <p:nvPr/>
        </p:nvSpPr>
        <p:spPr>
          <a:xfrm>
            <a:off x="3310200" y="301752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23" name="Picture 174" descr="FaLanguage-w.png"/>
          <p:cNvPicPr/>
          <p:nvPr/>
        </p:nvPicPr>
        <p:blipFill>
          <a:blip r:embed="rId7"/>
          <a:stretch/>
        </p:blipFill>
        <p:spPr>
          <a:xfrm>
            <a:off x="3402360" y="310968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24" name="Horizon 2 text 2"/>
          <p:cNvSpPr/>
          <p:nvPr/>
        </p:nvSpPr>
        <p:spPr>
          <a:xfrm>
            <a:off x="3803760" y="297180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Indian languages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worlds written and voiced in the learner’s language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Horizon 2 item 3"/>
          <p:cNvSpPr/>
          <p:nvPr/>
        </p:nvSpPr>
        <p:spPr>
          <a:xfrm>
            <a:off x="3200400" y="384948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26" name="Horizon 2 icon 3"/>
          <p:cNvSpPr/>
          <p:nvPr/>
        </p:nvSpPr>
        <p:spPr>
          <a:xfrm>
            <a:off x="3310200" y="400500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27" name="Picture 178" descr="FaUserGraduate-w.png"/>
          <p:cNvPicPr/>
          <p:nvPr/>
        </p:nvPicPr>
        <p:blipFill>
          <a:blip r:embed="rId8"/>
          <a:stretch/>
        </p:blipFill>
        <p:spPr>
          <a:xfrm>
            <a:off x="3402360" y="409716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28" name="Horizon 2 text 3"/>
          <p:cNvSpPr/>
          <p:nvPr/>
        </p:nvSpPr>
        <p:spPr>
          <a:xfrm>
            <a:off x="3803760" y="395928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Classroom &amp; LMS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assign a chapter, track who has played it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Horizon 3 label"/>
          <p:cNvSpPr/>
          <p:nvPr/>
        </p:nvSpPr>
        <p:spPr>
          <a:xfrm>
            <a:off x="6035040" y="1389960"/>
            <a:ext cx="2742480" cy="365040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30" name="Horizon 3 label text"/>
          <p:cNvSpPr/>
          <p:nvPr/>
        </p:nvSpPr>
        <p:spPr>
          <a:xfrm>
            <a:off x="6035040" y="1495800"/>
            <a:ext cx="27424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VISION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Horizon 3 item 1"/>
          <p:cNvSpPr/>
          <p:nvPr/>
        </p:nvSpPr>
        <p:spPr>
          <a:xfrm>
            <a:off x="6035040" y="187452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32" name="Horizon 3 icon 1"/>
          <p:cNvSpPr/>
          <p:nvPr/>
        </p:nvSpPr>
        <p:spPr>
          <a:xfrm>
            <a:off x="6144840" y="203004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33" name="Picture 184" descr="FaMicrophone-w.png"/>
          <p:cNvPicPr/>
          <p:nvPr/>
        </p:nvPicPr>
        <p:blipFill>
          <a:blip r:embed="rId9"/>
          <a:stretch/>
        </p:blipFill>
        <p:spPr>
          <a:xfrm>
            <a:off x="6237000" y="212220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34" name="Horizon 3 text 1"/>
          <p:cNvSpPr/>
          <p:nvPr/>
        </p:nvSpPr>
        <p:spPr>
          <a:xfrm>
            <a:off x="6638400" y="198432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Voice characters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argue with the misconception, out loud (Gemini Live)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Horizon 3 item 2"/>
          <p:cNvSpPr/>
          <p:nvPr/>
        </p:nvSpPr>
        <p:spPr>
          <a:xfrm>
            <a:off x="6035040" y="286200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36" name="Horizon 3 icon 2"/>
          <p:cNvSpPr/>
          <p:nvPr/>
        </p:nvSpPr>
        <p:spPr>
          <a:xfrm>
            <a:off x="6144840" y="301752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37" name="Picture 188" descr="FaBookOpen-w.png"/>
          <p:cNvPicPr/>
          <p:nvPr/>
        </p:nvPicPr>
        <p:blipFill>
          <a:blip r:embed="rId10"/>
          <a:stretch/>
        </p:blipFill>
        <p:spPr>
          <a:xfrm>
            <a:off x="6237000" y="310968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38" name="Horizon 3 text 2"/>
          <p:cNvSpPr/>
          <p:nvPr/>
        </p:nvSpPr>
        <p:spPr>
          <a:xfrm>
            <a:off x="6638400" y="297180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Publisher toolkit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any content library → verified interactive worlds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Horizon 3 item 3"/>
          <p:cNvSpPr/>
          <p:nvPr/>
        </p:nvSpPr>
        <p:spPr>
          <a:xfrm>
            <a:off x="6035040" y="3849480"/>
            <a:ext cx="2742480" cy="89532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40" name="Horizon 3 icon 3"/>
          <p:cNvSpPr/>
          <p:nvPr/>
        </p:nvSpPr>
        <p:spPr>
          <a:xfrm>
            <a:off x="6144840" y="4005000"/>
            <a:ext cx="383400" cy="383400"/>
          </a:xfrm>
          <a:prstGeom prst="ellipse">
            <a:avLst/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41" name="Picture 192" descr="FaGithub-w.png"/>
          <p:cNvPicPr/>
          <p:nvPr/>
        </p:nvPicPr>
        <p:blipFill>
          <a:blip r:embed="rId11"/>
          <a:stretch/>
        </p:blipFill>
        <p:spPr>
          <a:xfrm>
            <a:off x="6237000" y="4097160"/>
            <a:ext cx="199080" cy="199080"/>
          </a:xfrm>
          <a:prstGeom prst="rect">
            <a:avLst/>
          </a:prstGeom>
          <a:ln w="0">
            <a:noFill/>
          </a:ln>
        </p:spPr>
      </p:pic>
      <p:sp>
        <p:nvSpPr>
          <p:cNvPr id="342" name="Horizon 3 text 3"/>
          <p:cNvSpPr/>
          <p:nvPr/>
        </p:nvSpPr>
        <p:spPr>
          <a:xfrm>
            <a:off x="6638400" y="3959280"/>
            <a:ext cx="2056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1a1a"/>
                </a:solidFill>
                <a:latin typeface="Arial"/>
                <a:ea typeface="Arial"/>
              </a:rPr>
              <a:t>Open verifier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1a1a1a"/>
                </a:solidFill>
                <a:latin typeface="Arial"/>
                <a:ea typeface="Arial"/>
              </a:rPr>
              <a:t>the checks as a standard for generated learning games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156;p26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344" name="Google Shape;157;p26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06520"/>
          </a:xfrm>
          <a:prstGeom prst="rect">
            <a:avLst/>
          </a:prstGeom>
          <a:ln w="0">
            <a:noFill/>
          </a:ln>
        </p:spPr>
      </p:pic>
      <p:sp>
        <p:nvSpPr>
          <p:cNvPr id="345" name="Google Shape;158;p26"/>
          <p:cNvSpPr/>
          <p:nvPr/>
        </p:nvSpPr>
        <p:spPr>
          <a:xfrm>
            <a:off x="-29160" y="5072040"/>
            <a:ext cx="917280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8600" bIns="486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Google Shape;159;p26"/>
          <p:cNvSpPr/>
          <p:nvPr/>
        </p:nvSpPr>
        <p:spPr>
          <a:xfrm>
            <a:off x="265320" y="663840"/>
            <a:ext cx="894240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Provide links to your: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Google Sans Flex Medium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GitHub Public Repository: </a:t>
            </a: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https://github.com/capsemble/akagami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Google Sans Flex Medium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Demo Video Link (3 Minutes): </a:t>
            </a:r>
            <a:r>
              <a:rPr b="0" lang="en-GB" sz="1400" spc="-1" strike="noStrike">
                <a:solidFill>
                  <a:srgbClr val="000000"/>
                </a:solidFill>
                <a:latin typeface="Google Sans Flex Medium"/>
                <a:ea typeface="Google Sans Flex Medium"/>
                <a:hlinkClick r:id="rId3"/>
              </a:rPr>
              <a:t>https://youtu.be/hQ37h01j54o?si=LffNu72vj9co_8sH</a:t>
            </a:r>
            <a:r>
              <a:rPr b="1" lang="en-GB" sz="1400" spc="-1" strike="noStrike">
                <a:solidFill>
                  <a:srgbClr val="000000"/>
                </a:solidFill>
                <a:highlight>
                  <a:srgbClr val="fff176"/>
                </a:highlight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Google Sans Flex Medium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Google Sans Flex Medium"/>
                <a:ea typeface="Google Sans Flex Medium"/>
              </a:rPr>
              <a:t>Final Product Link: </a:t>
            </a:r>
            <a:r>
              <a:rPr b="1" lang="en-GB" sz="1400" spc="-1" strike="noStrike">
                <a:solidFill>
                  <a:srgbClr val="000000"/>
                </a:solidFill>
                <a:highlight>
                  <a:srgbClr val="fff176"/>
                </a:highlight>
                <a:latin typeface="Arial"/>
                <a:ea typeface="Arial"/>
              </a:rPr>
              <a:t>https://chapter-quest-140843079737.asia-southeast1.run.app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ry it card"/>
          <p:cNvSpPr/>
          <p:nvPr/>
        </p:nvSpPr>
        <p:spPr>
          <a:xfrm>
            <a:off x="365760" y="2331720"/>
            <a:ext cx="8411760" cy="2513880"/>
          </a:xfrm>
          <a:prstGeom prst="roundRect">
            <a:avLst>
              <a:gd name="adj" fmla="val 8000"/>
            </a:avLst>
          </a:prstGeom>
          <a:solidFill>
            <a:srgbClr val="1f14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48" name="Try it icon"/>
          <p:cNvSpPr/>
          <p:nvPr/>
        </p:nvSpPr>
        <p:spPr>
          <a:xfrm>
            <a:off x="594360" y="2541960"/>
            <a:ext cx="456480" cy="45648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49" name="Picture 161" descr="FaCirclePlay-d.png"/>
          <p:cNvPicPr/>
          <p:nvPr/>
        </p:nvPicPr>
        <p:blipFill>
          <a:blip r:embed="rId4"/>
          <a:stretch/>
        </p:blipFill>
        <p:spPr>
          <a:xfrm>
            <a:off x="704160" y="265176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350" name="Try it title"/>
          <p:cNvSpPr/>
          <p:nvPr/>
        </p:nvSpPr>
        <p:spPr>
          <a:xfrm>
            <a:off x="1234440" y="2655720"/>
            <a:ext cx="7223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4ecd8"/>
                </a:solidFill>
                <a:latin typeface="Google Sans Flex"/>
                <a:ea typeface="Arial"/>
              </a:rPr>
              <a:t>Try it in 60 seconds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tep 1 number"/>
          <p:cNvSpPr/>
          <p:nvPr/>
        </p:nvSpPr>
        <p:spPr>
          <a:xfrm>
            <a:off x="640080" y="3154680"/>
            <a:ext cx="273600" cy="27360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52" name="Step 1 digit"/>
          <p:cNvSpPr/>
          <p:nvPr/>
        </p:nvSpPr>
        <p:spPr>
          <a:xfrm>
            <a:off x="640080" y="3214800"/>
            <a:ext cx="273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140d"/>
                </a:solidFill>
                <a:latin typeface="Arial"/>
                <a:ea typeface="Arial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ry step 1"/>
          <p:cNvSpPr/>
          <p:nvPr/>
        </p:nvSpPr>
        <p:spPr>
          <a:xfrm>
            <a:off x="1051560" y="3211200"/>
            <a:ext cx="749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4ecd8"/>
                </a:solidFill>
                <a:latin typeface="Arial"/>
                <a:ea typeface="Arial"/>
              </a:rPr>
              <a:t>Open the product link and pick “Seven Sharp at the Haveli” — a RAG chapter turned into a game.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tep 2 number"/>
          <p:cNvSpPr/>
          <p:nvPr/>
        </p:nvSpPr>
        <p:spPr>
          <a:xfrm>
            <a:off x="640080" y="3557160"/>
            <a:ext cx="273600" cy="27360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55" name="Step 2 digit"/>
          <p:cNvSpPr/>
          <p:nvPr/>
        </p:nvSpPr>
        <p:spPr>
          <a:xfrm>
            <a:off x="640080" y="3617280"/>
            <a:ext cx="273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140d"/>
                </a:solidFill>
                <a:latin typeface="Arial"/>
                <a:ea typeface="Arial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ry step 2"/>
          <p:cNvSpPr/>
          <p:nvPr/>
        </p:nvSpPr>
        <p:spPr>
          <a:xfrm>
            <a:off x="1051560" y="3613680"/>
            <a:ext cx="749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4ecd8"/>
                </a:solidFill>
                <a:latin typeface="Arial"/>
                <a:ea typeface="Arial"/>
              </a:rPr>
              <a:t>Ask the Oracle with the torn 40-word chunks: the answer is right, the act still fails. Fix the chunking — it passes.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tep 3 number"/>
          <p:cNvSpPr/>
          <p:nvPr/>
        </p:nvSpPr>
        <p:spPr>
          <a:xfrm>
            <a:off x="640080" y="3959280"/>
            <a:ext cx="273600" cy="27360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58" name="Step 3 digit"/>
          <p:cNvSpPr/>
          <p:nvPr/>
        </p:nvSpPr>
        <p:spPr>
          <a:xfrm>
            <a:off x="640080" y="4019400"/>
            <a:ext cx="273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140d"/>
                </a:solidFill>
                <a:latin typeface="Arial"/>
                <a:ea typeface="Arial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ry step 3"/>
          <p:cNvSpPr/>
          <p:nvPr/>
        </p:nvSpPr>
        <p:spPr>
          <a:xfrm>
            <a:off x="1051560" y="4015800"/>
            <a:ext cx="749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4ecd8"/>
                </a:solidFill>
                <a:latin typeface="Arial"/>
                <a:ea typeface="Arial"/>
              </a:rPr>
              <a:t>Open “The July Ledger”, pin the wrong document, and watch the misconception’s own character walk in.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tep 4 number"/>
          <p:cNvSpPr/>
          <p:nvPr/>
        </p:nvSpPr>
        <p:spPr>
          <a:xfrm>
            <a:off x="640080" y="4361760"/>
            <a:ext cx="273600" cy="273600"/>
          </a:xfrm>
          <a:prstGeom prst="ellipse">
            <a:avLst/>
          </a:prstGeom>
          <a:solidFill>
            <a:srgbClr val="d9a44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61" name="Step 4 digit"/>
          <p:cNvSpPr/>
          <p:nvPr/>
        </p:nvSpPr>
        <p:spPr>
          <a:xfrm>
            <a:off x="640080" y="4421880"/>
            <a:ext cx="2736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1f140d"/>
                </a:solidFill>
                <a:latin typeface="Arial"/>
                <a:ea typeface="Arial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ry step 4"/>
          <p:cNvSpPr/>
          <p:nvPr/>
        </p:nvSpPr>
        <p:spPr>
          <a:xfrm>
            <a:off x="1051560" y="4418280"/>
            <a:ext cx="7497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f4ecd8"/>
                </a:solidFill>
                <a:latin typeface="Arial"/>
                <a:ea typeface="Arial"/>
              </a:rPr>
              <a:t>Or paste your own notes and watch the build verify every level live.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171;p28" descr=""/>
          <p:cNvPicPr/>
          <p:nvPr/>
        </p:nvPicPr>
        <p:blipFill>
          <a:blip r:embed="rId1"/>
          <a:srcRect l="0" t="0" r="0" b="97970"/>
          <a:stretch/>
        </p:blipFill>
        <p:spPr>
          <a:xfrm>
            <a:off x="0" y="5093640"/>
            <a:ext cx="9143280" cy="53640"/>
          </a:xfrm>
          <a:prstGeom prst="rect">
            <a:avLst/>
          </a:prstGeom>
          <a:ln w="0">
            <a:noFill/>
          </a:ln>
        </p:spPr>
      </p:pic>
      <p:pic>
        <p:nvPicPr>
          <p:cNvPr id="364" name="Google Shape;172;p28" descr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2026-10-18T22:16:31Z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